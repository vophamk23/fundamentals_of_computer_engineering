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sldIdLst>
    <p:sldId id="256" r:id="rId2"/>
    <p:sldId id="259" r:id="rId3"/>
    <p:sldId id="258" r:id="rId4"/>
    <p:sldId id="287" r:id="rId5"/>
    <p:sldId id="260" r:id="rId6"/>
    <p:sldId id="262" r:id="rId7"/>
    <p:sldId id="263" r:id="rId8"/>
    <p:sldId id="288" r:id="rId9"/>
    <p:sldId id="264" r:id="rId10"/>
    <p:sldId id="265" r:id="rId11"/>
    <p:sldId id="266" r:id="rId12"/>
    <p:sldId id="267" r:id="rId13"/>
    <p:sldId id="269" r:id="rId14"/>
    <p:sldId id="270" r:id="rId15"/>
    <p:sldId id="278" r:id="rId16"/>
    <p:sldId id="279" r:id="rId17"/>
    <p:sldId id="280" r:id="rId18"/>
    <p:sldId id="281" r:id="rId19"/>
    <p:sldId id="282" r:id="rId20"/>
    <p:sldId id="283" r:id="rId21"/>
    <p:sldId id="290" r:id="rId22"/>
    <p:sldId id="291" r:id="rId23"/>
    <p:sldId id="292" r:id="rId24"/>
    <p:sldId id="293" r:id="rId25"/>
    <p:sldId id="294" r:id="rId26"/>
    <p:sldId id="29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4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8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63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15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72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5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6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48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69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89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0" r:id="rId6"/>
    <p:sldLayoutId id="2147483806" r:id="rId7"/>
    <p:sldLayoutId id="2147483807" r:id="rId8"/>
    <p:sldLayoutId id="2147483808" r:id="rId9"/>
    <p:sldLayoutId id="2147483809" r:id="rId10"/>
    <p:sldLayoutId id="21474838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514E-3759-AD99-A9F1-99973ACED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LAB4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33589-2060-5103-4D08-65A3023EF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10" y="4608576"/>
            <a:ext cx="3205640" cy="774186"/>
          </a:xfrm>
        </p:spPr>
        <p:txBody>
          <a:bodyPr anchor="t">
            <a:normAutofit/>
          </a:bodyPr>
          <a:lstStyle/>
          <a:p>
            <a:r>
              <a:rPr lang="en-US" sz="2000" dirty="0"/>
              <a:t>VIRTUOSO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!!footer rectangle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4419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B3EF1-2CB3-1660-6B1F-37A5D684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4530-E4B3-3337-2819-B0A31D0E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Virtuoso setup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Library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Schematic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Spectre</a:t>
            </a:r>
            <a:r>
              <a:rPr lang="en-US" dirty="0"/>
              <a:t> simulation</a:t>
            </a:r>
          </a:p>
        </p:txBody>
      </p:sp>
    </p:spTree>
    <p:extLst>
      <p:ext uri="{BB962C8B-B14F-4D97-AF65-F5344CB8AC3E}">
        <p14:creationId xmlns:p14="http://schemas.microsoft.com/office/powerpoint/2010/main" val="234137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Virtuoso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66473"/>
          </a:xfrm>
        </p:spPr>
        <p:txBody>
          <a:bodyPr/>
          <a:lstStyle/>
          <a:p>
            <a:r>
              <a:rPr lang="en-US" b="1" u="sng" dirty="0">
                <a:solidFill>
                  <a:schemeClr val="tx2"/>
                </a:solidFill>
              </a:rPr>
              <a:t>Step 1:</a:t>
            </a:r>
            <a:r>
              <a:rPr lang="en-US" dirty="0"/>
              <a:t> Create and change directory to “</a:t>
            </a:r>
            <a:r>
              <a:rPr lang="en-US" i="1" dirty="0" err="1"/>
              <a:t>layout_env</a:t>
            </a:r>
            <a:r>
              <a:rPr lang="en-US" i="1" dirty="0"/>
              <a:t>”</a:t>
            </a:r>
            <a:r>
              <a:rPr lang="en-US" dirty="0"/>
              <a:t> folder. In this Lab 4, we will work at this place:</a:t>
            </a:r>
          </a:p>
          <a:p>
            <a:r>
              <a:rPr lang="en-US" b="1" dirty="0">
                <a:latin typeface="Consolas" panose="020B0609020204030204" pitchFamily="49" charset="0"/>
              </a:rPr>
              <a:t>%&gt; cd /home/</a:t>
            </a:r>
            <a:r>
              <a:rPr lang="en-US" b="1" dirty="0" err="1">
                <a:latin typeface="Consolas" panose="020B0609020204030204" pitchFamily="49" charset="0"/>
              </a:rPr>
              <a:t>vlsi_group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??</a:t>
            </a:r>
            <a:r>
              <a:rPr lang="en-US" b="1" dirty="0">
                <a:latin typeface="Consolas" panose="020B0609020204030204" pitchFamily="49" charset="0"/>
              </a:rPr>
              <a:t>/</a:t>
            </a:r>
            <a:r>
              <a:rPr lang="en-US" b="1" dirty="0" err="1">
                <a:latin typeface="Consolas" panose="020B0609020204030204" pitchFamily="49" charset="0"/>
              </a:rPr>
              <a:t>vlsi</a:t>
            </a:r>
            <a:r>
              <a:rPr lang="en-US" b="1" dirty="0"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Student_ID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latin typeface="Consolas" panose="020B0609020204030204" pitchFamily="49" charset="0"/>
              </a:rPr>
              <a:t>/work/</a:t>
            </a:r>
            <a:r>
              <a:rPr lang="en-US" b="1" dirty="0" err="1">
                <a:latin typeface="Consolas" panose="020B0609020204030204" pitchFamily="49" charset="0"/>
              </a:rPr>
              <a:t>layout_env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u="sng" dirty="0">
                <a:solidFill>
                  <a:schemeClr val="tx2"/>
                </a:solidFill>
              </a:rPr>
              <a:t>Step 2:</a:t>
            </a:r>
            <a:r>
              <a:rPr lang="en-US" dirty="0"/>
              <a:t> Copy Sample Environment Kit from Cadence to each of your synthesis working folder </a:t>
            </a:r>
          </a:p>
          <a:p>
            <a:r>
              <a:rPr lang="en-US" b="1" dirty="0">
                <a:latin typeface="Consolas" panose="020B0609020204030204" pitchFamily="49" charset="0"/>
              </a:rPr>
              <a:t>%&gt; cp –rf /home/</a:t>
            </a:r>
            <a:r>
              <a:rPr lang="en-US" b="1" dirty="0" err="1">
                <a:latin typeface="Consolas" panose="020B0609020204030204" pitchFamily="49" charset="0"/>
              </a:rPr>
              <a:t>share_file</a:t>
            </a:r>
            <a:r>
              <a:rPr lang="en-US" b="1" dirty="0">
                <a:latin typeface="Consolas" panose="020B0609020204030204" pitchFamily="49" charset="0"/>
              </a:rPr>
              <a:t>/cadence/</a:t>
            </a:r>
            <a:r>
              <a:rPr lang="en-US" b="1" dirty="0" err="1">
                <a:latin typeface="Consolas" panose="020B0609020204030204" pitchFamily="49" charset="0"/>
              </a:rPr>
              <a:t>pdk</a:t>
            </a:r>
            <a:r>
              <a:rPr lang="en-US" b="1" dirty="0">
                <a:latin typeface="Consolas" panose="020B0609020204030204" pitchFamily="49" charset="0"/>
              </a:rPr>
              <a:t>/ </a:t>
            </a:r>
            <a:r>
              <a:rPr lang="en-US" b="1" dirty="0" err="1">
                <a:latin typeface="Consolas" panose="020B0609020204030204" pitchFamily="49" charset="0"/>
              </a:rPr>
              <a:t>pdk</a:t>
            </a:r>
            <a:endParaRPr lang="en-US" b="1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0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Virtuoso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66473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>
                <a:solidFill>
                  <a:schemeClr val="tx2"/>
                </a:solidFill>
              </a:rPr>
              <a:t>Step 3:</a:t>
            </a:r>
            <a:r>
              <a:rPr lang="en-US" dirty="0"/>
              <a:t> Get license and start virtuoso with a executable file:</a:t>
            </a:r>
          </a:p>
          <a:p>
            <a:r>
              <a:rPr lang="en-US" dirty="0"/>
              <a:t>Create a file called “</a:t>
            </a:r>
            <a:r>
              <a:rPr lang="en-US" dirty="0" err="1"/>
              <a:t>go_vir</a:t>
            </a:r>
            <a:r>
              <a:rPr lang="en-US" dirty="0"/>
              <a:t>” with the content as follows:</a:t>
            </a:r>
          </a:p>
          <a:p>
            <a:r>
              <a:rPr lang="en-US" b="1" dirty="0">
                <a:latin typeface="Consolas" panose="020B0609020204030204" pitchFamily="49" charset="0"/>
              </a:rPr>
              <a:t>#!/bin/bash –f</a:t>
            </a:r>
          </a:p>
          <a:p>
            <a:r>
              <a:rPr lang="en-US" b="1" dirty="0">
                <a:latin typeface="Consolas" panose="020B0609020204030204" pitchFamily="49" charset="0"/>
              </a:rPr>
              <a:t>cd </a:t>
            </a:r>
            <a:r>
              <a:rPr lang="en-US" b="1" dirty="0" err="1">
                <a:latin typeface="Consolas" panose="020B0609020204030204" pitchFamily="49" charset="0"/>
              </a:rPr>
              <a:t>pdk</a:t>
            </a:r>
            <a:r>
              <a:rPr lang="en-US" b="1" dirty="0">
                <a:latin typeface="Consolas" panose="020B0609020204030204" pitchFamily="49" charset="0"/>
              </a:rPr>
              <a:t>/gpdk045_v_6_0/</a:t>
            </a:r>
          </a:p>
          <a:p>
            <a:r>
              <a:rPr lang="en-US" b="1" dirty="0">
                <a:latin typeface="Consolas" panose="020B0609020204030204" pitchFamily="49" charset="0"/>
              </a:rPr>
              <a:t>cd /home/</a:t>
            </a:r>
            <a:r>
              <a:rPr lang="en-US" b="1" dirty="0" err="1">
                <a:latin typeface="Consolas" panose="020B0609020204030204" pitchFamily="49" charset="0"/>
              </a:rPr>
              <a:t>share_file</a:t>
            </a:r>
            <a:r>
              <a:rPr lang="en-US" b="1" dirty="0">
                <a:latin typeface="Consolas" panose="020B0609020204030204" pitchFamily="49" charset="0"/>
              </a:rPr>
              <a:t>/cadence/</a:t>
            </a:r>
          </a:p>
          <a:p>
            <a:r>
              <a:rPr lang="en-US" b="1" dirty="0">
                <a:latin typeface="Consolas" panose="020B0609020204030204" pitchFamily="49" charset="0"/>
              </a:rPr>
              <a:t>source </a:t>
            </a:r>
            <a:r>
              <a:rPr lang="en-US" b="1" dirty="0" err="1">
                <a:latin typeface="Consolas" panose="020B0609020204030204" pitchFamily="49" charset="0"/>
              </a:rPr>
              <a:t>add_path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source </a:t>
            </a:r>
            <a:r>
              <a:rPr lang="en-US" b="1" dirty="0" err="1">
                <a:latin typeface="Consolas" panose="020B0609020204030204" pitchFamily="49" charset="0"/>
              </a:rPr>
              <a:t>add_license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cd –</a:t>
            </a:r>
          </a:p>
          <a:p>
            <a:r>
              <a:rPr lang="en-US" b="1" dirty="0">
                <a:latin typeface="Consolas" panose="020B0609020204030204" pitchFamily="49" charset="0"/>
              </a:rPr>
              <a:t>virtuoso &amp;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37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C6969B"/>
                </a:solidFill>
              </a:rPr>
              <a:t>2. Create Library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790855"/>
            <a:ext cx="3084844" cy="3311766"/>
          </a:xfrm>
        </p:spPr>
        <p:txBody>
          <a:bodyPr>
            <a:normAutofit/>
          </a:bodyPr>
          <a:lstStyle/>
          <a:p>
            <a:r>
              <a:rPr lang="en-US" sz="1600" b="1" u="sng"/>
              <a:t>Step 1:</a:t>
            </a:r>
            <a:r>
              <a:rPr lang="en-US" sz="1600"/>
              <a:t> Open </a:t>
            </a:r>
            <a:r>
              <a:rPr lang="en-US" sz="1600" b="1" i="1"/>
              <a:t>Tools </a:t>
            </a:r>
            <a:r>
              <a:rPr lang="en-US" sz="1600" b="1" i="1">
                <a:sym typeface="Wingdings" panose="05000000000000000000" pitchFamily="2" charset="2"/>
              </a:rPr>
              <a:t></a:t>
            </a:r>
            <a:r>
              <a:rPr lang="en-US" sz="1600" b="1" i="1"/>
              <a:t> Library Manager </a:t>
            </a:r>
          </a:p>
          <a:p>
            <a:r>
              <a:rPr lang="en-US" sz="1600" b="1" u="sng"/>
              <a:t>Step 2:</a:t>
            </a:r>
            <a:r>
              <a:rPr lang="en-US" sz="1600"/>
              <a:t> Select </a:t>
            </a:r>
            <a:r>
              <a:rPr lang="en-US" sz="1600" b="1" i="1"/>
              <a:t>File </a:t>
            </a:r>
            <a:r>
              <a:rPr lang="en-US" sz="1600" b="1" i="1">
                <a:sym typeface="Wingdings" panose="05000000000000000000" pitchFamily="2" charset="2"/>
              </a:rPr>
              <a:t></a:t>
            </a:r>
            <a:r>
              <a:rPr lang="en-US" sz="1600" b="1" i="1"/>
              <a:t> New </a:t>
            </a:r>
            <a:r>
              <a:rPr lang="en-US" sz="1600" b="1" i="1">
                <a:sym typeface="Wingdings" panose="05000000000000000000" pitchFamily="2" charset="2"/>
              </a:rPr>
              <a:t></a:t>
            </a:r>
            <a:r>
              <a:rPr lang="en-US" sz="1600" b="1" i="1"/>
              <a:t> Library </a:t>
            </a:r>
            <a:r>
              <a:rPr lang="en-US" sz="1600"/>
              <a:t>and enter a name for the library</a:t>
            </a:r>
            <a:endParaRPr lang="en-US" sz="1600" i="1"/>
          </a:p>
          <a:p>
            <a:endParaRPr lang="en-US" sz="1600"/>
          </a:p>
          <a:p>
            <a:endParaRPr lang="en-US" sz="1600"/>
          </a:p>
        </p:txBody>
      </p:sp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09F6B61-492D-3422-1B63-828387977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634" y="1382195"/>
            <a:ext cx="3583439" cy="1899418"/>
          </a:xfrm>
          <a:prstGeom prst="rect">
            <a:avLst/>
          </a:prstGeom>
        </p:spPr>
      </p:pic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5598DD7-A2D6-A2B7-F205-D74F06222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29" y="1148614"/>
            <a:ext cx="3583439" cy="426599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A3E0404-86A9-40FA-8DB8-302414EE2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3840225-BA0A-4B32-32AC-40E83B86F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634" y="3576389"/>
            <a:ext cx="3583439" cy="19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7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4000"/>
              <a:t>2. Create Library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/>
              <a:t> Step 3:</a:t>
            </a:r>
            <a:r>
              <a:rPr lang="en-US" dirty="0"/>
              <a:t> </a:t>
            </a:r>
            <a:r>
              <a:rPr lang="en-US" b="1" i="1"/>
              <a:t>Tools </a:t>
            </a:r>
            <a:r>
              <a:rPr lang="en-US" i="1">
                <a:sym typeface="Wingdings" panose="05000000000000000000" pitchFamily="2" charset="2"/>
              </a:rPr>
              <a:t></a:t>
            </a:r>
            <a:r>
              <a:rPr lang="en-US" i="1"/>
              <a:t> </a:t>
            </a:r>
            <a:r>
              <a:rPr lang="en-US" b="1" i="1"/>
              <a:t>Library Manager…</a:t>
            </a:r>
          </a:p>
          <a:p>
            <a:pPr marL="0" indent="0">
              <a:buNone/>
            </a:pPr>
            <a:r>
              <a:rPr lang="en-US"/>
              <a:t> Here you can find all your libraries as well as the built-in libraries and their contents.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88B31D02-09CE-2F39-4188-885E373C19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4" r="-1" b="-1"/>
          <a:stretch/>
        </p:blipFill>
        <p:spPr>
          <a:xfrm>
            <a:off x="5009429" y="643466"/>
            <a:ext cx="6180595" cy="522562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446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4000" dirty="0"/>
              <a:t>3. Schematic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r>
              <a:rPr lang="en-US" b="1" u="sng" dirty="0"/>
              <a:t>Step 1:</a:t>
            </a:r>
            <a:r>
              <a:rPr lang="en-US" dirty="0"/>
              <a:t> Create a cell view: Select </a:t>
            </a:r>
            <a:r>
              <a:rPr lang="en-US" b="1" i="1" dirty="0"/>
              <a:t>File </a:t>
            </a:r>
            <a:r>
              <a:rPr lang="en-US" b="1" i="1" dirty="0">
                <a:sym typeface="Wingdings" panose="05000000000000000000" pitchFamily="2" charset="2"/>
              </a:rPr>
              <a:t></a:t>
            </a:r>
            <a:r>
              <a:rPr lang="en-US" b="1" i="1" dirty="0"/>
              <a:t> New </a:t>
            </a:r>
            <a:r>
              <a:rPr lang="en-US" b="1" i="1" dirty="0">
                <a:sym typeface="Wingdings" panose="05000000000000000000" pitchFamily="2" charset="2"/>
              </a:rPr>
              <a:t> Cell View</a:t>
            </a:r>
          </a:p>
          <a:p>
            <a:r>
              <a:rPr lang="en-US" dirty="0"/>
              <a:t>Name the cell “inv” and click OK.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22BA31E-AC3C-4B80-EAED-C30CF4233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785" y="643466"/>
            <a:ext cx="4659884" cy="52256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85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2673-C75E-2D37-2168-A659CF81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Schematic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F9C5C-E65C-2ED2-1C37-2EBAD1631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Note</a:t>
            </a:r>
            <a:r>
              <a:rPr lang="en-US" dirty="0"/>
              <a:t>: If this pop up appears, choose </a:t>
            </a:r>
            <a:r>
              <a:rPr lang="en-US" b="1" dirty="0"/>
              <a:t>Always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4C855-413C-C41D-0270-2B9B158B6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429" y="3366525"/>
            <a:ext cx="6317142" cy="142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3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Schematic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66473"/>
          </a:xfrm>
        </p:spPr>
        <p:txBody>
          <a:bodyPr/>
          <a:lstStyle/>
          <a:p>
            <a:r>
              <a:rPr lang="en-US" b="1" u="sng" dirty="0">
                <a:solidFill>
                  <a:schemeClr val="tx2"/>
                </a:solidFill>
              </a:rPr>
              <a:t>Step 2:</a:t>
            </a:r>
            <a:r>
              <a:rPr lang="en-US" dirty="0"/>
              <a:t> Draw a schematic: </a:t>
            </a:r>
          </a:p>
          <a:p>
            <a:r>
              <a:rPr lang="en-US" dirty="0"/>
              <a:t>1. </a:t>
            </a:r>
            <a:r>
              <a:rPr lang="en-US" sz="2000" dirty="0"/>
              <a:t>select </a:t>
            </a:r>
            <a:r>
              <a:rPr lang="en-US" sz="2000" b="1" i="1" dirty="0"/>
              <a:t>Create </a:t>
            </a:r>
            <a:r>
              <a:rPr lang="en-US" sz="2000" b="1" i="1" dirty="0">
                <a:sym typeface="Wingdings" panose="05000000000000000000" pitchFamily="2" charset="2"/>
              </a:rPr>
              <a:t> </a:t>
            </a:r>
            <a:r>
              <a:rPr lang="en-US" sz="2000" b="1" i="1" dirty="0"/>
              <a:t>Instance (I)</a:t>
            </a:r>
            <a:r>
              <a:rPr lang="en-US" sz="2000" dirty="0"/>
              <a:t> and choose the NMOS transistor </a:t>
            </a:r>
            <a:endParaRPr lang="en-US" dirty="0"/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4F0D545-EA7E-1BC8-CEB0-CD75539B1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747" y="3238182"/>
            <a:ext cx="49244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44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Schematic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66473"/>
          </a:xfrm>
        </p:spPr>
        <p:txBody>
          <a:bodyPr/>
          <a:lstStyle/>
          <a:p>
            <a:r>
              <a:rPr lang="en-US" b="1" u="sng" dirty="0">
                <a:solidFill>
                  <a:schemeClr val="tx2"/>
                </a:solidFill>
              </a:rPr>
              <a:t>Step 2:</a:t>
            </a:r>
            <a:r>
              <a:rPr lang="en-US" dirty="0"/>
              <a:t> Draw a schematic: </a:t>
            </a:r>
          </a:p>
          <a:p>
            <a:r>
              <a:rPr lang="en-US" dirty="0"/>
              <a:t>2. </a:t>
            </a:r>
            <a:r>
              <a:rPr lang="en-US" sz="2000" dirty="0"/>
              <a:t>select </a:t>
            </a:r>
            <a:r>
              <a:rPr lang="en-US" sz="2000" b="1" i="1" dirty="0"/>
              <a:t>Create </a:t>
            </a:r>
            <a:r>
              <a:rPr lang="en-US" sz="2000" b="1" i="1" dirty="0">
                <a:sym typeface="Wingdings" panose="05000000000000000000" pitchFamily="2" charset="2"/>
              </a:rPr>
              <a:t> </a:t>
            </a:r>
            <a:r>
              <a:rPr lang="en-US" sz="2000" b="1" i="1" dirty="0"/>
              <a:t>Instance (I)</a:t>
            </a:r>
            <a:r>
              <a:rPr lang="en-US" sz="2000" dirty="0"/>
              <a:t> and choose the PMOS transistor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F3C9F285-E6DC-4384-F0E1-07D7BAAC7E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9"/>
          <a:stretch/>
        </p:blipFill>
        <p:spPr>
          <a:xfrm>
            <a:off x="3566477" y="3318553"/>
            <a:ext cx="4733925" cy="259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98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913F90-4522-4E66-98B7-DC02FD8BB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3. Schematic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5B8CC-0F92-4837-A535-00875F255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1117441"/>
          </a:xfrm>
        </p:spPr>
        <p:txBody>
          <a:bodyPr>
            <a:normAutofit/>
          </a:bodyPr>
          <a:lstStyle/>
          <a:p>
            <a:r>
              <a:rPr lang="en-US" b="1" u="sng" dirty="0"/>
              <a:t>Step 2:</a:t>
            </a:r>
            <a:r>
              <a:rPr lang="en-US" dirty="0"/>
              <a:t> Draw a schematic: </a:t>
            </a:r>
          </a:p>
          <a:p>
            <a:r>
              <a:rPr lang="en-US" dirty="0"/>
              <a:t>3. To add pin, </a:t>
            </a:r>
            <a:r>
              <a:rPr lang="en-US" sz="2000" dirty="0"/>
              <a:t>Select  </a:t>
            </a:r>
            <a:r>
              <a:rPr lang="en-US" sz="2000" b="1" i="1" dirty="0"/>
              <a:t>Create </a:t>
            </a:r>
            <a:r>
              <a:rPr lang="en-US" sz="2000" i="1" dirty="0">
                <a:sym typeface="Wingdings" panose="05000000000000000000" pitchFamily="2" charset="2"/>
              </a:rPr>
              <a:t></a:t>
            </a:r>
            <a:r>
              <a:rPr lang="en-US" sz="2000" i="1" dirty="0"/>
              <a:t> </a:t>
            </a:r>
            <a:r>
              <a:rPr lang="en-US" sz="2000" b="1" i="1" dirty="0"/>
              <a:t>Pin</a:t>
            </a:r>
            <a:r>
              <a:rPr lang="en-US" b="1" i="1" dirty="0"/>
              <a:t>. (P)</a:t>
            </a:r>
            <a:r>
              <a:rPr lang="en-US" b="1" dirty="0"/>
              <a:t>, </a:t>
            </a:r>
            <a:r>
              <a:rPr lang="en-US" dirty="0"/>
              <a:t>then add </a:t>
            </a:r>
            <a:r>
              <a:rPr lang="en-US" b="1" dirty="0"/>
              <a:t>input, output, </a:t>
            </a:r>
            <a:r>
              <a:rPr lang="en-US" b="1" dirty="0" err="1"/>
              <a:t>vdd</a:t>
            </a:r>
            <a:r>
              <a:rPr lang="en-US" dirty="0"/>
              <a:t> and </a:t>
            </a:r>
            <a:r>
              <a:rPr lang="en-US" b="1" dirty="0" err="1"/>
              <a:t>gnd</a:t>
            </a:r>
            <a:endParaRPr lang="en-US" b="1" dirty="0"/>
          </a:p>
          <a:p>
            <a:endParaRPr lang="en-US" dirty="0"/>
          </a:p>
        </p:txBody>
      </p: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38361184-DCD7-4ADE-DA21-70A40C6F7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003" y="3362504"/>
            <a:ext cx="2335329" cy="2735071"/>
          </a:xfrm>
          <a:prstGeom prst="rect">
            <a:avLst/>
          </a:prstGeom>
        </p:spPr>
      </p:pic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4F932A33-6B56-B23B-597F-9422447B4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735" y="3367938"/>
            <a:ext cx="2347861" cy="2729743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43D7A203-0995-E318-64EE-0FC6462D7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65" y="3362504"/>
            <a:ext cx="2346456" cy="2735177"/>
          </a:xfrm>
          <a:prstGeom prst="rect">
            <a:avLst/>
          </a:prstGeom>
        </p:spPr>
      </p:pic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EA5C4139-47F6-296B-1BA2-8E6805196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870" y="3367938"/>
            <a:ext cx="2346365" cy="273507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344C6FC-AA4A-4CB4-835E-C976EBC08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44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4000"/>
              <a:t>3. Schematic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r>
              <a:rPr lang="en-US" b="1" u="sng" dirty="0"/>
              <a:t>Step 2:</a:t>
            </a:r>
            <a:r>
              <a:rPr lang="en-US" dirty="0"/>
              <a:t> Draw a schematic: </a:t>
            </a:r>
          </a:p>
          <a:p>
            <a:r>
              <a:rPr lang="en-US" dirty="0"/>
              <a:t>4. Connect the components: Select  </a:t>
            </a:r>
            <a:r>
              <a:rPr lang="en-US" b="1" i="1" dirty="0"/>
              <a:t>Create </a:t>
            </a:r>
            <a:r>
              <a:rPr lang="en-US" i="1" dirty="0">
                <a:sym typeface="Wingdings" panose="05000000000000000000" pitchFamily="2" charset="2"/>
              </a:rPr>
              <a:t></a:t>
            </a:r>
            <a:r>
              <a:rPr lang="en-US" i="1" dirty="0"/>
              <a:t> </a:t>
            </a:r>
            <a:r>
              <a:rPr lang="en-US" b="1" i="1" dirty="0"/>
              <a:t>Wire. (W) </a:t>
            </a:r>
          </a:p>
          <a:p>
            <a:r>
              <a:rPr lang="en-US" dirty="0"/>
              <a:t>Complete the circuit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6107D33E-02BA-B1BB-9B3E-ABAF0E188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51" y="643466"/>
            <a:ext cx="5392751" cy="52256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863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Schematic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66473"/>
          </a:xfrm>
        </p:spPr>
        <p:txBody>
          <a:bodyPr/>
          <a:lstStyle/>
          <a:p>
            <a:r>
              <a:rPr lang="en-US" b="1" u="sng" dirty="0">
                <a:solidFill>
                  <a:schemeClr val="tx2"/>
                </a:solidFill>
              </a:rPr>
              <a:t>Step 2:</a:t>
            </a:r>
            <a:r>
              <a:rPr lang="en-US" dirty="0"/>
              <a:t> Draw a schematic: </a:t>
            </a:r>
          </a:p>
          <a:p>
            <a:r>
              <a:rPr lang="en-US" dirty="0"/>
              <a:t>5. </a:t>
            </a:r>
            <a:r>
              <a:rPr lang="en-US" sz="2000" dirty="0"/>
              <a:t>Check and save: Select </a:t>
            </a:r>
            <a:r>
              <a:rPr lang="en-US" sz="2000" b="1" i="1" dirty="0"/>
              <a:t>File </a:t>
            </a:r>
            <a:r>
              <a:rPr lang="en-US" sz="2000" b="1" i="1" dirty="0">
                <a:sym typeface="Wingdings" panose="05000000000000000000" pitchFamily="2" charset="2"/>
              </a:rPr>
              <a:t></a:t>
            </a:r>
            <a:r>
              <a:rPr lang="en-US" sz="2000" i="1" dirty="0"/>
              <a:t> </a:t>
            </a:r>
            <a:r>
              <a:rPr lang="en-US" sz="2000" b="1" i="1" dirty="0"/>
              <a:t>Check and Save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9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1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6432434" cy="1450757"/>
          </a:xfrm>
        </p:spPr>
        <p:txBody>
          <a:bodyPr>
            <a:normAutofit/>
          </a:bodyPr>
          <a:lstStyle/>
          <a:p>
            <a:r>
              <a:rPr lang="en-US"/>
              <a:t>3. Schematic</a:t>
            </a:r>
          </a:p>
        </p:txBody>
      </p:sp>
      <p:cxnSp>
        <p:nvCxnSpPr>
          <p:cNvPr id="39" name="Straight Connector 33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6240" y="2267421"/>
            <a:ext cx="60350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6432434" cy="3461658"/>
          </a:xfrm>
        </p:spPr>
        <p:txBody>
          <a:bodyPr>
            <a:normAutofit/>
          </a:bodyPr>
          <a:lstStyle/>
          <a:p>
            <a:r>
              <a:rPr lang="en-US" b="1" u="sng" dirty="0"/>
              <a:t>Step 3:</a:t>
            </a:r>
            <a:r>
              <a:rPr lang="en-US" dirty="0"/>
              <a:t> In order to use your cell in a test bench, you first need to create a symbol that represents it.</a:t>
            </a:r>
          </a:p>
          <a:p>
            <a:r>
              <a:rPr lang="en-US" dirty="0"/>
              <a:t>In order to do that, select </a:t>
            </a:r>
            <a:r>
              <a:rPr lang="en-US" b="1" dirty="0"/>
              <a:t>Create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/>
              <a:t>Cellview</a:t>
            </a:r>
            <a:r>
              <a:rPr lang="en-US" b="1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b="1" dirty="0"/>
              <a:t> From </a:t>
            </a:r>
            <a:r>
              <a:rPr lang="en-US" b="1" dirty="0" err="1"/>
              <a:t>Cellview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944D9C0-2206-8FDC-6192-4AF4DB110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901" y="3634126"/>
            <a:ext cx="4001315" cy="2500821"/>
          </a:xfrm>
          <a:prstGeom prst="rect">
            <a:avLst/>
          </a:prstGeom>
        </p:spPr>
      </p:pic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C9CEDCF-00EB-D71C-307A-7AAE5335D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901" y="674913"/>
            <a:ext cx="3812056" cy="2525487"/>
          </a:xfrm>
          <a:prstGeom prst="rect">
            <a:avLst/>
          </a:prstGeom>
        </p:spPr>
      </p:pic>
      <p:sp>
        <p:nvSpPr>
          <p:cNvPr id="40" name="Rectangle 35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067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4000"/>
              <a:t>3. Schematic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522347" cy="3229714"/>
          </a:xfrm>
        </p:spPr>
        <p:txBody>
          <a:bodyPr>
            <a:normAutofit/>
          </a:bodyPr>
          <a:lstStyle/>
          <a:p>
            <a:r>
              <a:rPr lang="en-US" b="1" u="sng" dirty="0"/>
              <a:t>Step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modify the symbol by simply delete things that you don’t want, and add the shape by: (from the Symbol Editor) Create → Shape → Line/Rectangle/Polygon/Circle/…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8D4440-8126-9EE9-1C3F-2731AF7A1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47" y="1076505"/>
            <a:ext cx="6892560" cy="435954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741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3700"/>
              <a:t>4. Run Spectre simulation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4375787" cy="3229714"/>
          </a:xfrm>
        </p:spPr>
        <p:txBody>
          <a:bodyPr>
            <a:normAutofit/>
          </a:bodyPr>
          <a:lstStyle/>
          <a:p>
            <a:r>
              <a:rPr lang="en-US" b="1" u="sng" dirty="0"/>
              <a:t>Step 1:</a:t>
            </a:r>
            <a:r>
              <a:rPr lang="en-US" dirty="0"/>
              <a:t> To simulate the circuit, we create a new schematic: (from the Library Manager) </a:t>
            </a:r>
          </a:p>
          <a:p>
            <a:r>
              <a:rPr lang="en-US" b="1" i="1" dirty="0"/>
              <a:t>File →New → </a:t>
            </a:r>
            <a:r>
              <a:rPr lang="en-US" b="1" i="1" dirty="0" err="1"/>
              <a:t>Cellview</a:t>
            </a:r>
            <a:r>
              <a:rPr lang="en-US" b="1" i="1" dirty="0"/>
              <a:t>. </a:t>
            </a:r>
          </a:p>
          <a:p>
            <a:r>
              <a:rPr lang="en-US" dirty="0"/>
              <a:t>This time, we name it something like </a:t>
            </a:r>
            <a:r>
              <a:rPr lang="en-US" dirty="0" err="1"/>
              <a:t>sim_inv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38192BD-1A39-B1DD-D1A8-47F6E3D22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198" y="643466"/>
            <a:ext cx="4703058" cy="52256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69669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3700"/>
              <a:t>4. Run Spectre simulation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4375787" cy="3229714"/>
          </a:xfrm>
        </p:spPr>
        <p:txBody>
          <a:bodyPr>
            <a:normAutofit/>
          </a:bodyPr>
          <a:lstStyle/>
          <a:p>
            <a:r>
              <a:rPr lang="en-US" dirty="0"/>
              <a:t>To add the cell inv: press </a:t>
            </a:r>
            <a:r>
              <a:rPr lang="en-US" b="1" dirty="0"/>
              <a:t>I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BECD876F-8974-AC4D-6795-FA6F17F70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402" y="1188087"/>
            <a:ext cx="5488962" cy="381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64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3700"/>
              <a:t>4. Run Spectre simulation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4375787" cy="3229714"/>
          </a:xfrm>
        </p:spPr>
        <p:txBody>
          <a:bodyPr>
            <a:normAutofit/>
          </a:bodyPr>
          <a:lstStyle/>
          <a:p>
            <a:r>
              <a:rPr lang="en-US" dirty="0"/>
              <a:t>To add </a:t>
            </a:r>
            <a:r>
              <a:rPr lang="en-US" b="1" dirty="0"/>
              <a:t>VDD</a:t>
            </a:r>
            <a:r>
              <a:rPr lang="en-US" dirty="0"/>
              <a:t> and </a:t>
            </a:r>
            <a:r>
              <a:rPr lang="en-US" b="1" dirty="0"/>
              <a:t>In</a:t>
            </a:r>
            <a:r>
              <a:rPr lang="en-US" dirty="0"/>
              <a:t> voltages: press </a:t>
            </a:r>
            <a:r>
              <a:rPr lang="en-US" b="1" dirty="0"/>
              <a:t>I</a:t>
            </a:r>
            <a:r>
              <a:rPr lang="en-US" dirty="0"/>
              <a:t> then browse to </a:t>
            </a:r>
            <a:r>
              <a:rPr lang="en-US" b="1" dirty="0"/>
              <a:t>vdc</a:t>
            </a:r>
            <a:r>
              <a:rPr lang="en-US" dirty="0"/>
              <a:t> in the </a:t>
            </a:r>
            <a:r>
              <a:rPr lang="en-US" b="1" dirty="0" err="1"/>
              <a:t>analogLib</a:t>
            </a:r>
            <a:r>
              <a:rPr lang="en-US" dirty="0"/>
              <a:t> library, set </a:t>
            </a:r>
            <a:r>
              <a:rPr lang="en-US" b="1" dirty="0"/>
              <a:t>DC</a:t>
            </a:r>
            <a:r>
              <a:rPr lang="en-US" dirty="0"/>
              <a:t> voltage as </a:t>
            </a:r>
            <a:r>
              <a:rPr lang="en-US" b="1" dirty="0"/>
              <a:t>1.8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EFB668C-CE3A-CC75-B961-7B46C13C2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292" y="169049"/>
            <a:ext cx="4004628" cy="606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44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n-US" sz="3700"/>
              <a:t>4. Run Spectre simulation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4375787" cy="3229714"/>
          </a:xfrm>
        </p:spPr>
        <p:txBody>
          <a:bodyPr>
            <a:normAutofit/>
          </a:bodyPr>
          <a:lstStyle/>
          <a:p>
            <a:r>
              <a:rPr lang="en-US" dirty="0"/>
              <a:t>To add </a:t>
            </a:r>
            <a:r>
              <a:rPr lang="en-US" b="1" dirty="0"/>
              <a:t>VSS</a:t>
            </a:r>
            <a:r>
              <a:rPr lang="en-US" dirty="0"/>
              <a:t>: press </a:t>
            </a:r>
            <a:r>
              <a:rPr lang="en-US" b="1" dirty="0"/>
              <a:t>I</a:t>
            </a:r>
            <a:r>
              <a:rPr lang="en-US" dirty="0"/>
              <a:t> then browse to </a:t>
            </a:r>
            <a:r>
              <a:rPr lang="en-US" b="1" dirty="0" err="1"/>
              <a:t>gnd</a:t>
            </a:r>
            <a:r>
              <a:rPr lang="en-US" dirty="0"/>
              <a:t> in the </a:t>
            </a:r>
            <a:r>
              <a:rPr lang="en-US" b="1" dirty="0" err="1"/>
              <a:t>analogLib</a:t>
            </a:r>
            <a:r>
              <a:rPr lang="en-US" dirty="0"/>
              <a:t> library:</a:t>
            </a:r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872DA606-A0DC-7D61-6EE2-969C8231C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636" y="1480558"/>
            <a:ext cx="5168406" cy="357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22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sz="4300"/>
              <a:t>4. Run Spectre simulation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r>
              <a:rPr lang="en-US" dirty="0"/>
              <a:t>Complete the test circuit.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E6D53AC-C0D9-D1D6-EFDD-C8E6C65F94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15" b="-4"/>
          <a:stretch/>
        </p:blipFill>
        <p:spPr>
          <a:xfrm>
            <a:off x="4648201" y="640081"/>
            <a:ext cx="6909801" cy="531440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47537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454384"/>
            <a:ext cx="6266543" cy="1450757"/>
          </a:xfrm>
        </p:spPr>
        <p:txBody>
          <a:bodyPr>
            <a:normAutofit/>
          </a:bodyPr>
          <a:lstStyle/>
          <a:p>
            <a:r>
              <a:rPr lang="en-US" sz="4300" dirty="0"/>
              <a:t>4. Run </a:t>
            </a:r>
            <a:r>
              <a:rPr lang="en-US" sz="4300" dirty="0" err="1"/>
              <a:t>Spectre</a:t>
            </a:r>
            <a:r>
              <a:rPr lang="en-US" sz="4300" dirty="0"/>
              <a:t>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10609943" cy="3461658"/>
          </a:xfrm>
        </p:spPr>
        <p:txBody>
          <a:bodyPr>
            <a:normAutofit/>
          </a:bodyPr>
          <a:lstStyle/>
          <a:p>
            <a:r>
              <a:rPr lang="en-US" b="1" u="sng" dirty="0"/>
              <a:t>Step 2:</a:t>
            </a:r>
            <a:r>
              <a:rPr lang="en-US" dirty="0"/>
              <a:t> Now we will use the tool </a:t>
            </a:r>
            <a:r>
              <a:rPr lang="en-US" b="1" dirty="0"/>
              <a:t>ADE Explorer </a:t>
            </a:r>
            <a:r>
              <a:rPr lang="en-US" dirty="0"/>
              <a:t>to run the analyses. </a:t>
            </a:r>
          </a:p>
          <a:p>
            <a:r>
              <a:rPr lang="en-US" dirty="0"/>
              <a:t>1. In Schematic Editor, select </a:t>
            </a:r>
            <a:r>
              <a:rPr lang="en-US" b="1" dirty="0"/>
              <a:t>Launch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ADE Explorer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C451DE-5C6F-5CCD-97CA-539A9D1B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63" y="3662046"/>
            <a:ext cx="4086795" cy="1648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E7FC83-8B7A-136D-D55B-6E27FB40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090" y="2928576"/>
            <a:ext cx="4439270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28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5462622" cy="1244599"/>
          </a:xfrm>
        </p:spPr>
        <p:txBody>
          <a:bodyPr>
            <a:normAutofit/>
          </a:bodyPr>
          <a:lstStyle/>
          <a:p>
            <a:r>
              <a:rPr lang="en-US" sz="3700" dirty="0"/>
              <a:t>4. Run </a:t>
            </a:r>
            <a:r>
              <a:rPr lang="en-US" sz="3700" dirty="0" err="1"/>
              <a:t>Spectre</a:t>
            </a:r>
            <a:r>
              <a:rPr lang="en-US" sz="3700" dirty="0"/>
              <a:t>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r>
              <a:rPr lang="en-US" dirty="0"/>
              <a:t>2. From the ADE Explorer, </a:t>
            </a:r>
          </a:p>
          <a:p>
            <a:r>
              <a:rPr lang="en-US" b="1" dirty="0"/>
              <a:t>Setup → Simulator</a:t>
            </a:r>
            <a:r>
              <a:rPr lang="en-US" dirty="0"/>
              <a:t>, </a:t>
            </a:r>
          </a:p>
          <a:p>
            <a:r>
              <a:rPr lang="en-US" dirty="0"/>
              <a:t>then select </a:t>
            </a:r>
            <a:r>
              <a:rPr lang="en-US" i="1" dirty="0" err="1"/>
              <a:t>spectre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DD18A7-6A9C-A9B3-2667-5A0D20008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329" y="2639380"/>
            <a:ext cx="4305901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49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7363" cy="1450757"/>
          </a:xfrm>
        </p:spPr>
        <p:txBody>
          <a:bodyPr>
            <a:normAutofit/>
          </a:bodyPr>
          <a:lstStyle/>
          <a:p>
            <a:r>
              <a:rPr lang="en-US" dirty="0"/>
              <a:t>4. Run </a:t>
            </a:r>
            <a:r>
              <a:rPr lang="en-US" dirty="0" err="1"/>
              <a:t>Spectre</a:t>
            </a:r>
            <a:r>
              <a:rPr lang="en-US" dirty="0"/>
              <a:t>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6388242" cy="3760891"/>
          </a:xfrm>
        </p:spPr>
        <p:txBody>
          <a:bodyPr>
            <a:normAutofit/>
          </a:bodyPr>
          <a:lstStyle/>
          <a:p>
            <a:r>
              <a:rPr lang="en-US" dirty="0"/>
              <a:t>4. To run a simulation, we need to choose the type of analysis. Select </a:t>
            </a:r>
            <a:r>
              <a:rPr lang="en-US" b="1" dirty="0"/>
              <a:t>Analyses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Choose…</a:t>
            </a:r>
          </a:p>
          <a:p>
            <a:r>
              <a:rPr lang="en-US" dirty="0"/>
              <a:t>Select as below </a:t>
            </a:r>
          </a:p>
          <a:p>
            <a:r>
              <a:rPr lang="en-US" dirty="0"/>
              <a:t>Select </a:t>
            </a:r>
            <a:r>
              <a:rPr lang="en-US" b="1" dirty="0" err="1"/>
              <a:t>Select</a:t>
            </a:r>
            <a:r>
              <a:rPr lang="en-US" b="1" dirty="0"/>
              <a:t> Component </a:t>
            </a:r>
            <a:r>
              <a:rPr lang="en-US" dirty="0"/>
              <a:t>and click on V0 vdc on schematic.</a:t>
            </a:r>
            <a:endParaRPr lang="en-US" b="1" dirty="0"/>
          </a:p>
          <a:p>
            <a:r>
              <a:rPr lang="en-US" dirty="0"/>
              <a:t>The </a:t>
            </a:r>
            <a:r>
              <a:rPr lang="en-US" b="1" dirty="0"/>
              <a:t>Start </a:t>
            </a:r>
            <a:r>
              <a:rPr lang="en-US" dirty="0"/>
              <a:t>point should be 0, the </a:t>
            </a:r>
            <a:r>
              <a:rPr lang="en-US" b="1" dirty="0"/>
              <a:t>Stop </a:t>
            </a:r>
            <a:r>
              <a:rPr lang="en-US" dirty="0"/>
              <a:t>should be 1.8, the </a:t>
            </a:r>
            <a:r>
              <a:rPr lang="en-US" b="1" dirty="0"/>
              <a:t>Step Size </a:t>
            </a:r>
            <a:r>
              <a:rPr lang="en-US" dirty="0"/>
              <a:t>should be </a:t>
            </a:r>
            <a:r>
              <a:rPr lang="en-US" b="1" dirty="0"/>
              <a:t>0.01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610BB-C2B5-1E50-29AC-95C8D708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888" y="286603"/>
            <a:ext cx="3134389" cy="567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8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7363" cy="1450757"/>
          </a:xfrm>
        </p:spPr>
        <p:txBody>
          <a:bodyPr>
            <a:normAutofit/>
          </a:bodyPr>
          <a:lstStyle/>
          <a:p>
            <a:r>
              <a:rPr lang="en-US" dirty="0"/>
              <a:t>4. Run </a:t>
            </a:r>
            <a:r>
              <a:rPr lang="en-US" dirty="0" err="1"/>
              <a:t>Spectre</a:t>
            </a:r>
            <a:r>
              <a:rPr lang="en-US" dirty="0"/>
              <a:t>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2"/>
            <a:ext cx="8381999" cy="14507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5. Return back to </a:t>
            </a:r>
            <a:r>
              <a:rPr lang="en-US" b="1" dirty="0"/>
              <a:t>maestro </a:t>
            </a:r>
            <a:r>
              <a:rPr lang="en-US" dirty="0"/>
              <a:t>view</a:t>
            </a:r>
          </a:p>
          <a:p>
            <a:pPr algn="just"/>
            <a:r>
              <a:rPr lang="en-US" sz="2000" dirty="0"/>
              <a:t>Select </a:t>
            </a:r>
            <a:r>
              <a:rPr lang="en-US" sz="2000" b="1" dirty="0"/>
              <a:t>Outputs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b="1" dirty="0"/>
              <a:t>To Be Plotted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Select on Design</a:t>
            </a:r>
            <a:r>
              <a:rPr lang="en-US" sz="2000" dirty="0"/>
              <a:t>.</a:t>
            </a:r>
          </a:p>
          <a:p>
            <a:r>
              <a:rPr lang="en-US" dirty="0"/>
              <a:t>Point to the </a:t>
            </a:r>
            <a:r>
              <a:rPr lang="en-US" b="1" dirty="0"/>
              <a:t>In</a:t>
            </a:r>
            <a:r>
              <a:rPr lang="en-US" dirty="0"/>
              <a:t> and </a:t>
            </a:r>
            <a:r>
              <a:rPr lang="en-US" b="1" dirty="0"/>
              <a:t>Out</a:t>
            </a:r>
            <a:r>
              <a:rPr lang="en-US" dirty="0"/>
              <a:t> pins on schematic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F0C06-77E5-3E8F-CD45-AA80D46A8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3845562"/>
            <a:ext cx="8556425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04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FA79-162D-EF18-163D-CF5C8C4E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Run </a:t>
            </a:r>
            <a:r>
              <a:rPr lang="en-US" dirty="0" err="1"/>
              <a:t>Spectre</a:t>
            </a:r>
            <a:r>
              <a:rPr lang="en-US" dirty="0"/>
              <a:t>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1B28-9175-99D7-C271-07D74B17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66473"/>
          </a:xfrm>
        </p:spPr>
        <p:txBody>
          <a:bodyPr/>
          <a:lstStyle/>
          <a:p>
            <a:pPr algn="just"/>
            <a:r>
              <a:rPr lang="en-US" sz="2000" dirty="0"/>
              <a:t>6. To run the simulation, select </a:t>
            </a:r>
            <a:r>
              <a:rPr lang="en-US" sz="2000" b="1" dirty="0"/>
              <a:t>Simulation </a:t>
            </a:r>
            <a:r>
              <a:rPr lang="en-US" sz="2000" b="1" dirty="0">
                <a:sym typeface="Wingdings" panose="05000000000000000000" pitchFamily="2" charset="2"/>
              </a:rPr>
              <a:t> Netlist and Run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endParaRPr lang="en-US" sz="2000" dirty="0"/>
          </a:p>
          <a:p>
            <a:pPr algn="just"/>
            <a:endParaRPr lang="en-US" sz="2000" dirty="0"/>
          </a:p>
          <a:p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34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09B7-7110-CB0E-3496-B5BB70E3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95AB-D956-F262-4B60-D7976E358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slide just showed an example of an Inverter</a:t>
            </a:r>
          </a:p>
          <a:p>
            <a:r>
              <a:rPr lang="en-US" dirty="0"/>
              <a:t>Your exercise is to do the same with an And gate (or </a:t>
            </a:r>
            <a:r>
              <a:rPr lang="en-US"/>
              <a:t>Or/Nand/Nor gate)</a:t>
            </a:r>
            <a:endParaRPr lang="en-US" dirty="0"/>
          </a:p>
          <a:p>
            <a:r>
              <a:rPr lang="en-US" dirty="0"/>
              <a:t>Each individual submit a report with schematics and simulation of those gates.</a:t>
            </a:r>
          </a:p>
          <a:p>
            <a:r>
              <a:rPr lang="en-US" dirty="0"/>
              <a:t>There must be your comments showing your own understanding of the schematics and simulation result you submitted in your report</a:t>
            </a:r>
          </a:p>
        </p:txBody>
      </p:sp>
    </p:spTree>
    <p:extLst>
      <p:ext uri="{BB962C8B-B14F-4D97-AF65-F5344CB8AC3E}">
        <p14:creationId xmlns:p14="http://schemas.microsoft.com/office/powerpoint/2010/main" val="5315121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RightStep">
      <a:dk1>
        <a:srgbClr val="000000"/>
      </a:dk1>
      <a:lt1>
        <a:srgbClr val="FFFFFF"/>
      </a:lt1>
      <a:dk2>
        <a:srgbClr val="412427"/>
      </a:dk2>
      <a:lt2>
        <a:srgbClr val="E2E8E7"/>
      </a:lt2>
      <a:accent1>
        <a:srgbClr val="C6969B"/>
      </a:accent1>
      <a:accent2>
        <a:srgbClr val="BA927F"/>
      </a:accent2>
      <a:accent3>
        <a:srgbClr val="AEA383"/>
      </a:accent3>
      <a:accent4>
        <a:srgbClr val="A0A873"/>
      </a:accent4>
      <a:accent5>
        <a:srgbClr val="93AB81"/>
      </a:accent5>
      <a:accent6>
        <a:srgbClr val="79B078"/>
      </a:accent6>
      <a:hlink>
        <a:srgbClr val="568E88"/>
      </a:hlink>
      <a:folHlink>
        <a:srgbClr val="7F7F7F"/>
      </a:folHlink>
    </a:clrScheme>
    <a:fontScheme name="Retrospect">
      <a:majorFont>
        <a:latin typeface="Avenir Next LT Pro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venir Next LT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</TotalTime>
  <Words>821</Words>
  <Application>Microsoft Office PowerPoint</Application>
  <PresentationFormat>Widescreen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Avenir Next LT Pro</vt:lpstr>
      <vt:lpstr>Avenir Next LT Pro Light</vt:lpstr>
      <vt:lpstr>Calibri</vt:lpstr>
      <vt:lpstr>Consolas</vt:lpstr>
      <vt:lpstr>Times New Roman</vt:lpstr>
      <vt:lpstr>RetrospectVTI</vt:lpstr>
      <vt:lpstr>LAB4</vt:lpstr>
      <vt:lpstr>Outline</vt:lpstr>
      <vt:lpstr>1. Virtuoso setup</vt:lpstr>
      <vt:lpstr>1. Virtuoso setup</vt:lpstr>
      <vt:lpstr>2. Create Library</vt:lpstr>
      <vt:lpstr>2. Create Library</vt:lpstr>
      <vt:lpstr>3. Schematic</vt:lpstr>
      <vt:lpstr>3. Schematic</vt:lpstr>
      <vt:lpstr>3. Schematic</vt:lpstr>
      <vt:lpstr>3. Schematic</vt:lpstr>
      <vt:lpstr>3. Schematic</vt:lpstr>
      <vt:lpstr>3. Schematic</vt:lpstr>
      <vt:lpstr>3. Schematic</vt:lpstr>
      <vt:lpstr>3. Schematic</vt:lpstr>
      <vt:lpstr>3. Schematic</vt:lpstr>
      <vt:lpstr>4. Run Spectre simulation</vt:lpstr>
      <vt:lpstr>4. Run Spectre simulation</vt:lpstr>
      <vt:lpstr>4. Run Spectre simulation</vt:lpstr>
      <vt:lpstr>4. Run Spectre simulation</vt:lpstr>
      <vt:lpstr>4. Run Spectre simulation</vt:lpstr>
      <vt:lpstr>4. Run Spectre simulation</vt:lpstr>
      <vt:lpstr>4. Run Spectre simulation</vt:lpstr>
      <vt:lpstr>4. Run Spectre simulation</vt:lpstr>
      <vt:lpstr>4. Run Spectre simulation</vt:lpstr>
      <vt:lpstr>4. Run Spectre simulation</vt:lpstr>
      <vt:lpstr>5. 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LAB4</dc:title>
  <dc:creator>Nghị Huỳnh</dc:creator>
  <cp:lastModifiedBy>Nghị Huỳnh</cp:lastModifiedBy>
  <cp:revision>25</cp:revision>
  <dcterms:created xsi:type="dcterms:W3CDTF">2023-04-13T00:24:38Z</dcterms:created>
  <dcterms:modified xsi:type="dcterms:W3CDTF">2023-04-25T00:03:14Z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2023-04-13T00:55:26Z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b26615ff-4ce2-4f62-9700-3e403e0595d7</vt:lpwstr>
  </property>
  <property fmtid="{D5CDD505-2E9C-101B-9397-08002B2CF9AE}" pid="7" name="MSIP_Label_defa4170-0d19-0005-0004-bc88714345d2_ActionId">
    <vt:lpwstr>69b81608-f21b-4fe0-af1b-6aba1214e789</vt:lpwstr>
  </property>
  <property fmtid="{D5CDD505-2E9C-101B-9397-08002B2CF9AE}" pid="8" name="MSIP_Label_defa4170-0d19-0005-0004-bc88714345d2_ContentBits">
    <vt:lpwstr>0</vt:lpwstr>
  </property>
</Properties>
</file>