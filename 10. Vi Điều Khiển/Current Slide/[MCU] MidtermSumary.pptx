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24"/>
  </p:notesMasterIdLst>
  <p:handoutMasterIdLst>
    <p:handoutMasterId r:id="rId25"/>
  </p:handoutMasterIdLst>
  <p:sldIdLst>
    <p:sldId id="257" r:id="rId3"/>
    <p:sldId id="565" r:id="rId4"/>
    <p:sldId id="566" r:id="rId5"/>
    <p:sldId id="567" r:id="rId6"/>
    <p:sldId id="568" r:id="rId7"/>
    <p:sldId id="532" r:id="rId8"/>
    <p:sldId id="569" r:id="rId9"/>
    <p:sldId id="552" r:id="rId10"/>
    <p:sldId id="550" r:id="rId11"/>
    <p:sldId id="548" r:id="rId12"/>
    <p:sldId id="555" r:id="rId13"/>
    <p:sldId id="556" r:id="rId14"/>
    <p:sldId id="557" r:id="rId15"/>
    <p:sldId id="558" r:id="rId16"/>
    <p:sldId id="561" r:id="rId17"/>
    <p:sldId id="559" r:id="rId18"/>
    <p:sldId id="560" r:id="rId19"/>
    <p:sldId id="553" r:id="rId20"/>
    <p:sldId id="562" r:id="rId21"/>
    <p:sldId id="563" r:id="rId22"/>
    <p:sldId id="564" r:id="rId23"/>
  </p:sldIdLst>
  <p:sldSz cx="9144000" cy="6858000" type="screen4x3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89911" autoAdjust="0"/>
  </p:normalViewPr>
  <p:slideViewPr>
    <p:cSldViewPr snapToGrid="0">
      <p:cViewPr>
        <p:scale>
          <a:sx n="75" d="100"/>
          <a:sy n="75" d="100"/>
        </p:scale>
        <p:origin x="1694" y="365"/>
      </p:cViewPr>
      <p:guideLst>
        <p:guide orient="horz" pos="2160"/>
        <p:guide pos="3840"/>
        <p:guide pos="7296"/>
        <p:guide orient="horz" pos="4128"/>
        <p:guide pos="2880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6"/>
    </p:cViewPr>
  </p:sorterViewPr>
  <p:notesViewPr>
    <p:cSldViewPr snapToGrid="0" showGuides="1">
      <p:cViewPr>
        <p:scale>
          <a:sx n="200" d="100"/>
          <a:sy n="200" d="100"/>
        </p:scale>
        <p:origin x="86" y="-44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68796EA6-6F25-4F19-87BA-7ADCC16DAEF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C39C172E-A8B5-46F6-B05C-DFA3E2E0F207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3750" cy="3452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hcmut.edu.vn/~anhpham" TargetMode="External"/><Relationship Id="rId2" Type="http://schemas.openxmlformats.org/officeDocument/2006/relationships/hyperlink" Target="mailto:anhpham@cse.hcmut.edu.vn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4" y="3810004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49495" y="3889662"/>
            <a:ext cx="4953000" cy="1752600"/>
          </a:xfrm>
        </p:spPr>
        <p:txBody>
          <a:bodyPr/>
          <a:lstStyle>
            <a:lvl1pPr marL="64006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6378" y="2401891"/>
            <a:ext cx="8458200" cy="1081307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529" y="1283517"/>
            <a:ext cx="9010221" cy="5436758"/>
          </a:xfrm>
        </p:spPr>
        <p:txBody>
          <a:bodyPr>
            <a:normAutofit/>
          </a:bodyPr>
          <a:lstStyle>
            <a:lvl1pPr marL="365751" indent="-256026">
              <a:buFont typeface="Wingdings" panose="05000000000000000000" pitchFamily="2" charset="2"/>
              <a:buChar char="§"/>
              <a:defRPr sz="26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just">
              <a:defRPr sz="24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 dirty="0" smtClean="0"/>
              <a:t>General Information</a:t>
            </a:r>
          </a:p>
          <a:p>
            <a:pPr lvl="1" eaLnBrk="1" latinLnBrk="0" hangingPunct="1"/>
            <a:r>
              <a:rPr lang="en-US" dirty="0" smtClean="0"/>
              <a:t>CSE 504003</a:t>
            </a:r>
          </a:p>
          <a:p>
            <a:pPr lvl="1" eaLnBrk="1" latinLnBrk="0" hangingPunct="1"/>
            <a:r>
              <a:rPr lang="en-US" dirty="0" smtClean="0"/>
              <a:t>3 credits</a:t>
            </a:r>
          </a:p>
          <a:p>
            <a:pPr lvl="1" eaLnBrk="1" latinLnBrk="0" hangingPunct="1"/>
            <a:endParaRPr lang="en-US" dirty="0" smtClean="0"/>
          </a:p>
          <a:p>
            <a:pPr lvl="0" eaLnBrk="1" latinLnBrk="0" hangingPunct="1"/>
            <a:r>
              <a:rPr lang="en-US" dirty="0" smtClean="0"/>
              <a:t>Coordinator </a:t>
            </a:r>
          </a:p>
          <a:p>
            <a:pPr lvl="1"/>
            <a:r>
              <a:rPr lang="en-US" dirty="0" smtClean="0"/>
              <a:t>Pham Hoang </a:t>
            </a:r>
            <a:r>
              <a:rPr lang="en-US" dirty="0" err="1" smtClean="0"/>
              <a:t>Anh</a:t>
            </a:r>
            <a:endParaRPr lang="en-US" dirty="0" smtClean="0"/>
          </a:p>
          <a:p>
            <a:pPr lvl="1"/>
            <a:r>
              <a:rPr lang="en-US" dirty="0" smtClean="0"/>
              <a:t>Dept. Computer Engineering, Faculty of Computer Science and Engineering, HCMC Uni. Of Technology </a:t>
            </a:r>
          </a:p>
          <a:p>
            <a:pPr lvl="1"/>
            <a:r>
              <a:rPr lang="en-US" dirty="0" smtClean="0"/>
              <a:t>Email: </a:t>
            </a:r>
            <a:r>
              <a:rPr lang="en-US" dirty="0" smtClean="0">
                <a:hlinkClick r:id="rId2"/>
              </a:rPr>
              <a:t>anhpham@cse.hcmut.edu.vn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Phone: (08)38647256 (Ext. 5843)</a:t>
            </a:r>
          </a:p>
          <a:p>
            <a:pPr lvl="1"/>
            <a:r>
              <a:rPr lang="en-US" dirty="0" smtClean="0"/>
              <a:t>Homepage: </a:t>
            </a:r>
            <a:r>
              <a:rPr lang="en-US" dirty="0" smtClean="0">
                <a:hlinkClick r:id="rId3"/>
              </a:rPr>
              <a:t>www.cse.hcmut.edu.vn/~anhpham</a:t>
            </a:r>
            <a:r>
              <a:rPr lang="en-US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Century Gothic" pitchFamily="34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16778"/>
            <a:ext cx="2111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Exercises</a:t>
            </a:r>
            <a:r>
              <a:rPr lang="en-US" sz="1200" b="1" i="1" baseline="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on STM32F103RB</a:t>
            </a:r>
            <a:endParaRPr lang="en-US" sz="12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40262010-AD51-4252-9881-6947E88E89FD}" type="slidenum">
              <a:rPr lang="en-US" sz="1200" b="1" smtClean="0">
                <a:solidFill>
                  <a:schemeClr val="accent6">
                    <a:lumMod val="75000"/>
                  </a:schemeClr>
                </a:solidFill>
                <a:latin typeface="Century Gothic" pitchFamily="34" charset="0"/>
              </a:rPr>
              <a:pPr algn="ctr"/>
              <a:t>‹#›</a:t>
            </a:fld>
            <a:endParaRPr lang="en-US" sz="1200" b="1" dirty="0">
              <a:solidFill>
                <a:schemeClr val="accent6">
                  <a:lumMod val="75000"/>
                </a:schemeClr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19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4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6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7" y="2244970"/>
            <a:ext cx="4041775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90"/>
            <a:ext cx="5102352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30"/>
            <a:ext cx="338328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12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6" y="1109162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483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483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4" y="36025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20F09E4-6EA4-4BF3-9FC8-FF40373B88E6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51" indent="-256026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52" indent="-246882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21" indent="-219451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47" indent="-201163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53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0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75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17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2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797" y="971550"/>
            <a:ext cx="8650783" cy="251164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MIDTERM SUMARY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97" y="4097701"/>
            <a:ext cx="4017812" cy="26712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980" y="4356170"/>
            <a:ext cx="3657600" cy="9263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605" y="5350889"/>
            <a:ext cx="4603975" cy="114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vi-VN" dirty="0"/>
              <a:t>55 câu 60 phút </a:t>
            </a:r>
          </a:p>
          <a:p>
            <a:r>
              <a:rPr lang="vi-VN" dirty="0"/>
              <a:t>Trắc nghiệm</a:t>
            </a:r>
          </a:p>
          <a:p>
            <a:r>
              <a:rPr lang="vi-VN" dirty="0"/>
              <a:t>Được phép mang tài liệu</a:t>
            </a:r>
          </a:p>
          <a:p>
            <a:endParaRPr lang="vi-VN" dirty="0"/>
          </a:p>
          <a:p>
            <a:r>
              <a:rPr lang="vi-VN" dirty="0"/>
              <a:t>Topic 1: Vi xử lý và Vi điều khiển</a:t>
            </a:r>
          </a:p>
          <a:p>
            <a:r>
              <a:rPr lang="vi-VN" dirty="0"/>
              <a:t>So sánh các đặc điểm quan trọng của 2 hệ thống:</a:t>
            </a:r>
          </a:p>
          <a:p>
            <a:r>
              <a:rPr lang="vi-VN" dirty="0"/>
              <a:t>  CPU</a:t>
            </a:r>
          </a:p>
          <a:p>
            <a:r>
              <a:rPr lang="vi-VN" dirty="0"/>
              <a:t>  RAM</a:t>
            </a:r>
          </a:p>
          <a:p>
            <a:r>
              <a:rPr lang="vi-VN" dirty="0"/>
              <a:t>  RTOS - OS</a:t>
            </a:r>
          </a:p>
          <a:p>
            <a:r>
              <a:rPr lang="vi-VN" dirty="0"/>
              <a:t>  Khả năng xử lý - Khả năng điều khiển</a:t>
            </a:r>
          </a:p>
          <a:p>
            <a:r>
              <a:rPr lang="vi-VN" dirty="0"/>
              <a:t>  </a:t>
            </a:r>
          </a:p>
          <a:p>
            <a:r>
              <a:rPr lang="vi-VN" dirty="0"/>
              <a:t>Topic 2: GPIO</a:t>
            </a:r>
          </a:p>
          <a:p>
            <a:r>
              <a:rPr lang="vi-VN" dirty="0"/>
              <a:t>  Input </a:t>
            </a:r>
          </a:p>
          <a:p>
            <a:r>
              <a:rPr lang="vi-VN" dirty="0"/>
              <a:t>  Output</a:t>
            </a:r>
          </a:p>
          <a:p>
            <a:r>
              <a:rPr lang="vi-VN" dirty="0"/>
              <a:t>  ADC (12bits 0 - 4095 0V - 3.3V)</a:t>
            </a:r>
          </a:p>
          <a:p>
            <a:r>
              <a:rPr lang="vi-VN" dirty="0"/>
              <a:t>  PWM  (8bits  10 bits 0V - 3.3V)</a:t>
            </a:r>
          </a:p>
          <a:p>
            <a:r>
              <a:rPr lang="vi-VN" dirty="0"/>
              <a:t>  SPI, I2C, UART (Alternaltive functions)</a:t>
            </a:r>
          </a:p>
          <a:p>
            <a:r>
              <a:rPr lang="vi-VN" dirty="0"/>
              <a:t>  </a:t>
            </a:r>
          </a:p>
          <a:p>
            <a:r>
              <a:rPr lang="vi-VN" dirty="0"/>
              <a:t>Topic: Timer Interrupt</a:t>
            </a:r>
          </a:p>
          <a:p>
            <a:r>
              <a:rPr lang="vi-VN" dirty="0"/>
              <a:t>  </a:t>
            </a:r>
          </a:p>
          <a:p>
            <a:r>
              <a:rPr lang="vi-VN" dirty="0"/>
              <a:t>  HCLK -&gt; Prescaller (+1) -&gt; Timer Counter (+1)</a:t>
            </a:r>
          </a:p>
          <a:p>
            <a:r>
              <a:rPr lang="vi-VN" dirty="0"/>
              <a:t>       -----&gt; Timer Interrupt Period</a:t>
            </a:r>
          </a:p>
          <a:p>
            <a:endParaRPr lang="vi-VN" dirty="0"/>
          </a:p>
          <a:p>
            <a:endParaRPr lang="vi-VN" dirty="0"/>
          </a:p>
          <a:p>
            <a:r>
              <a:rPr lang="vi-VN" dirty="0"/>
              <a:t>	while(1){</a:t>
            </a:r>
          </a:p>
          <a:p>
            <a:r>
              <a:rPr lang="vi-VN" dirty="0"/>
              <a:t>		HAL_Delay(10);</a:t>
            </a:r>
          </a:p>
          <a:p>
            <a:r>
              <a:rPr lang="vi-VN" dirty="0"/>
              <a:t>		HAL_GPIO_TogglePin(PA5);</a:t>
            </a:r>
          </a:p>
          <a:p>
            <a:r>
              <a:rPr lang="vi-VN" dirty="0"/>
              <a:t>	}</a:t>
            </a:r>
          </a:p>
          <a:p>
            <a:r>
              <a:rPr lang="vi-VN" dirty="0"/>
              <a:t>	</a:t>
            </a:r>
          </a:p>
          <a:p>
            <a:r>
              <a:rPr lang="vi-VN" dirty="0"/>
              <a:t>	PA5 có tần số và chu kì là bao nhiêu?</a:t>
            </a:r>
          </a:p>
          <a:p>
            <a:r>
              <a:rPr lang="vi-VN" dirty="0"/>
              <a:t>	setTimer(0, 50);//50ms</a:t>
            </a:r>
          </a:p>
          <a:p>
            <a:r>
              <a:rPr lang="vi-VN" dirty="0"/>
              <a:t>	while(1){</a:t>
            </a:r>
          </a:p>
          <a:p>
            <a:r>
              <a:rPr lang="vi-VN" dirty="0"/>
              <a:t>		if(timer0 ==1){</a:t>
            </a:r>
          </a:p>
          <a:p>
            <a:r>
              <a:rPr lang="vi-VN" dirty="0"/>
              <a:t>			HAL_GPIO_TogglePin(PA5);</a:t>
            </a:r>
          </a:p>
          <a:p>
            <a:r>
              <a:rPr lang="vi-VN" dirty="0"/>
              <a:t>			setTimer(0,40); //ms</a:t>
            </a:r>
          </a:p>
          <a:p>
            <a:r>
              <a:rPr lang="vi-VN" dirty="0"/>
              <a:t>		}</a:t>
            </a:r>
          </a:p>
          <a:p>
            <a:r>
              <a:rPr lang="vi-VN" dirty="0"/>
              <a:t>	}</a:t>
            </a:r>
          </a:p>
          <a:p>
            <a:r>
              <a:rPr lang="vi-VN" dirty="0"/>
              <a:t>	</a:t>
            </a:r>
          </a:p>
          <a:p>
            <a:r>
              <a:rPr lang="vi-VN" dirty="0"/>
              <a:t>	Cycle = TON + TOFF</a:t>
            </a:r>
          </a:p>
          <a:p>
            <a:r>
              <a:rPr lang="vi-VN" dirty="0"/>
              <a:t>	Freq = 1/Cycle</a:t>
            </a:r>
          </a:p>
          <a:p>
            <a:r>
              <a:rPr lang="vi-VN" dirty="0"/>
              <a:t>	Duty Cycle = TON/ (TON + TOFF)</a:t>
            </a:r>
          </a:p>
          <a:p>
            <a:r>
              <a:rPr lang="vi-VN" dirty="0"/>
              <a:t>	TON = ?</a:t>
            </a:r>
          </a:p>
          <a:p>
            <a:r>
              <a:rPr lang="vi-VN" dirty="0"/>
              <a:t>	TOFF = ?</a:t>
            </a:r>
          </a:p>
          <a:p>
            <a:endParaRPr lang="vi-VN" dirty="0"/>
          </a:p>
          <a:p>
            <a:endParaRPr lang="vi-VN" dirty="0"/>
          </a:p>
          <a:p>
            <a:r>
              <a:rPr lang="vi-VN" dirty="0"/>
              <a:t>	</a:t>
            </a:r>
          </a:p>
          <a:p>
            <a:r>
              <a:rPr lang="vi-VN" dirty="0"/>
              <a:t>	</a:t>
            </a:r>
          </a:p>
          <a:p>
            <a:r>
              <a:rPr lang="vi-VN" dirty="0"/>
              <a:t>	</a:t>
            </a:r>
          </a:p>
          <a:p>
            <a:r>
              <a:rPr lang="vi-VN" dirty="0"/>
              <a:t>	</a:t>
            </a:r>
          </a:p>
          <a:p>
            <a:r>
              <a:rPr lang="vi-VN" dirty="0"/>
              <a:t>	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chung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91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So sánh các đặc điểm quan trọng của 2 hệ thống:</a:t>
            </a:r>
          </a:p>
          <a:p>
            <a:r>
              <a:rPr lang="vi-VN" dirty="0"/>
              <a:t>  CPU</a:t>
            </a:r>
          </a:p>
          <a:p>
            <a:r>
              <a:rPr lang="vi-VN" dirty="0"/>
              <a:t>  RAM</a:t>
            </a:r>
          </a:p>
          <a:p>
            <a:r>
              <a:rPr lang="vi-VN" dirty="0"/>
              <a:t>  RTOS - OS</a:t>
            </a:r>
          </a:p>
          <a:p>
            <a:r>
              <a:rPr lang="vi-VN" dirty="0"/>
              <a:t>  Khả năng xử lý - Khả năng điều khiển</a:t>
            </a:r>
          </a:p>
          <a:p>
            <a:pPr marL="109725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Topic 1: Vi xử lý và Vi điều </a:t>
            </a:r>
            <a:r>
              <a:rPr lang="vi-VN" dirty="0" smtClean="0"/>
              <a:t>khiển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 Input </a:t>
            </a:r>
          </a:p>
          <a:p>
            <a:r>
              <a:rPr lang="vi-VN" dirty="0"/>
              <a:t> </a:t>
            </a:r>
            <a:r>
              <a:rPr lang="vi-VN" dirty="0" smtClean="0"/>
              <a:t>Output</a:t>
            </a:r>
            <a:endParaRPr lang="vi-VN" dirty="0"/>
          </a:p>
          <a:p>
            <a:r>
              <a:rPr lang="vi-VN" dirty="0"/>
              <a:t> </a:t>
            </a:r>
            <a:r>
              <a:rPr lang="vi-VN" dirty="0" smtClean="0"/>
              <a:t>ADC </a:t>
            </a:r>
            <a:r>
              <a:rPr lang="vi-VN" dirty="0"/>
              <a:t>(12bits 0 - 4095 0V - 3.3V)</a:t>
            </a:r>
          </a:p>
          <a:p>
            <a:r>
              <a:rPr lang="vi-VN" dirty="0"/>
              <a:t> </a:t>
            </a:r>
            <a:r>
              <a:rPr lang="vi-VN" dirty="0" smtClean="0"/>
              <a:t>PWM  </a:t>
            </a:r>
            <a:r>
              <a:rPr lang="vi-VN" dirty="0"/>
              <a:t>(8bits  10 bits 0V - 3.3V)</a:t>
            </a:r>
          </a:p>
          <a:p>
            <a:r>
              <a:rPr lang="vi-VN" dirty="0"/>
              <a:t> </a:t>
            </a:r>
            <a:r>
              <a:rPr lang="vi-VN" dirty="0" smtClean="0"/>
              <a:t>SPI</a:t>
            </a:r>
            <a:r>
              <a:rPr lang="vi-VN" dirty="0"/>
              <a:t>, I2C, UART (Alternaltive functions)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2: GPIO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2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dirty="0"/>
              <a:t>HCLK -&gt; Prescaller (+1) -&gt; Timer Counter (+1)</a:t>
            </a:r>
          </a:p>
          <a:p>
            <a:pPr marL="109725" indent="0">
              <a:buNone/>
            </a:pPr>
            <a:r>
              <a:rPr lang="vi-VN" dirty="0"/>
              <a:t>       -----&gt; Timer Interrupt Period</a:t>
            </a:r>
          </a:p>
          <a:p>
            <a:endParaRPr lang="vi-VN" dirty="0"/>
          </a:p>
          <a:p>
            <a:endParaRPr lang="vi-VN" dirty="0"/>
          </a:p>
          <a:p>
            <a:pPr marL="109725" indent="0">
              <a:buNone/>
            </a:pPr>
            <a:r>
              <a:rPr lang="vi-VN" dirty="0"/>
              <a:t>	while(1){</a:t>
            </a:r>
          </a:p>
          <a:p>
            <a:pPr marL="109725" indent="0">
              <a:buNone/>
            </a:pPr>
            <a:r>
              <a:rPr lang="vi-VN" dirty="0"/>
              <a:t>		HAL_Delay(10);</a:t>
            </a:r>
          </a:p>
          <a:p>
            <a:pPr marL="109725" indent="0">
              <a:buNone/>
            </a:pPr>
            <a:r>
              <a:rPr lang="vi-VN" dirty="0"/>
              <a:t>		HAL_GPIO_TogglePin(PA5);</a:t>
            </a:r>
          </a:p>
          <a:p>
            <a:pPr marL="109725" indent="0">
              <a:buNone/>
            </a:pPr>
            <a:r>
              <a:rPr lang="vi-VN" dirty="0"/>
              <a:t>	}</a:t>
            </a:r>
          </a:p>
          <a:p>
            <a:pPr marL="109725" indent="0">
              <a:buNone/>
            </a:pPr>
            <a:r>
              <a:rPr lang="vi-VN" dirty="0"/>
              <a:t>	</a:t>
            </a:r>
          </a:p>
          <a:p>
            <a:pPr marL="109725" indent="0">
              <a:buNone/>
            </a:pPr>
            <a:r>
              <a:rPr lang="vi-VN" dirty="0"/>
              <a:t>	PA5 có tần số và chu kì là bao nhiêu?</a:t>
            </a:r>
          </a:p>
          <a:p>
            <a:pPr marL="109725" indent="0">
              <a:buNone/>
            </a:pPr>
            <a:r>
              <a:rPr lang="vi-VN" dirty="0"/>
              <a:t>	setTimer(0, 50);//50ms</a:t>
            </a:r>
          </a:p>
          <a:p>
            <a:pPr marL="109725" indent="0">
              <a:buNone/>
            </a:pPr>
            <a:r>
              <a:rPr lang="vi-VN" dirty="0"/>
              <a:t>	while(1){</a:t>
            </a:r>
          </a:p>
          <a:p>
            <a:pPr marL="109725" indent="0">
              <a:buNone/>
            </a:pPr>
            <a:r>
              <a:rPr lang="vi-VN" dirty="0"/>
              <a:t>		if(timer0 ==1){</a:t>
            </a:r>
          </a:p>
          <a:p>
            <a:pPr marL="109725" indent="0">
              <a:buNone/>
            </a:pPr>
            <a:r>
              <a:rPr lang="vi-VN" dirty="0"/>
              <a:t>			HAL_GPIO_TogglePin(PA5);</a:t>
            </a:r>
          </a:p>
          <a:p>
            <a:pPr marL="109725" indent="0">
              <a:buNone/>
            </a:pPr>
            <a:r>
              <a:rPr lang="vi-VN" dirty="0"/>
              <a:t>			setTimer(0,40); //ms</a:t>
            </a:r>
          </a:p>
          <a:p>
            <a:pPr marL="109725" indent="0">
              <a:buNone/>
            </a:pPr>
            <a:r>
              <a:rPr lang="vi-VN" dirty="0"/>
              <a:t>		}</a:t>
            </a:r>
          </a:p>
          <a:p>
            <a:pPr marL="109725" indent="0">
              <a:buNone/>
            </a:pPr>
            <a:r>
              <a:rPr lang="vi-VN" dirty="0"/>
              <a:t>	}</a:t>
            </a:r>
          </a:p>
          <a:p>
            <a:pPr marL="109725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3: Interrupt – Timer Interrupt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45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4614729"/>
            <a:ext cx="9010221" cy="2105545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Cycle (T) = </a:t>
            </a:r>
            <a:r>
              <a:rPr lang="en-US" dirty="0" smtClean="0"/>
              <a:t>On-period + OFF-period </a:t>
            </a:r>
            <a:r>
              <a:rPr lang="en-US" b="1" dirty="0" smtClean="0"/>
              <a:t>(s)</a:t>
            </a:r>
          </a:p>
          <a:p>
            <a:pPr algn="just"/>
            <a:r>
              <a:rPr lang="en-US" b="1" dirty="0" smtClean="0"/>
              <a:t>Frequency (F) = </a:t>
            </a:r>
            <a:r>
              <a:rPr lang="en-US" dirty="0" smtClean="0"/>
              <a:t>1 /T   </a:t>
            </a:r>
            <a:r>
              <a:rPr lang="en-US" b="1" dirty="0" smtClean="0"/>
              <a:t>(Hz)</a:t>
            </a:r>
          </a:p>
          <a:p>
            <a:pPr algn="just"/>
            <a:r>
              <a:rPr lang="en-US" dirty="0" smtClean="0"/>
              <a:t>Duty Cycle = ON-period/T </a:t>
            </a:r>
            <a:r>
              <a:rPr lang="en-US" b="1" dirty="0" smtClean="0"/>
              <a:t>(%)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Topic 4: Cycle – Frequency – Duty Cycle</a:t>
            </a:r>
            <a:endParaRPr lang="en-US" sz="3200" dirty="0"/>
          </a:p>
        </p:txBody>
      </p:sp>
      <p:pic>
        <p:nvPicPr>
          <p:cNvPr id="1026" name="Picture 2" descr="Using TIMER1 to blink a LED once per second for 50ms - Programming  Questions - Arduino For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2" y="1771266"/>
            <a:ext cx="4672801" cy="189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D Driver Selection | element14 In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007" y="1771266"/>
            <a:ext cx="3706620" cy="184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80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5" indent="0">
              <a:buNone/>
            </a:pPr>
            <a:r>
              <a:rPr lang="fr-FR" dirty="0"/>
              <a:t>Cycle = TON + TOFF</a:t>
            </a:r>
          </a:p>
          <a:p>
            <a:pPr marL="109725" indent="0">
              <a:buNone/>
            </a:pPr>
            <a:r>
              <a:rPr lang="fr-FR" dirty="0" err="1" smtClean="0"/>
              <a:t>Freq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1/Cycle</a:t>
            </a:r>
          </a:p>
          <a:p>
            <a:pPr marL="109725" indent="0">
              <a:buNone/>
            </a:pPr>
            <a:r>
              <a:rPr lang="fr-FR" dirty="0" err="1" smtClean="0"/>
              <a:t>Duty</a:t>
            </a:r>
            <a:r>
              <a:rPr lang="fr-FR" dirty="0" smtClean="0"/>
              <a:t> </a:t>
            </a:r>
            <a:r>
              <a:rPr lang="fr-FR" dirty="0"/>
              <a:t>Cycle = TON/ (TON + TOFF</a:t>
            </a:r>
            <a:r>
              <a:rPr lang="fr-FR" dirty="0" smtClean="0"/>
              <a:t>) (%)</a:t>
            </a:r>
            <a:endParaRPr lang="fr-FR" dirty="0"/>
          </a:p>
          <a:p>
            <a:pPr marL="109725" indent="0">
              <a:buNone/>
            </a:pPr>
            <a:r>
              <a:rPr lang="fr-FR" dirty="0" smtClean="0"/>
              <a:t>TON </a:t>
            </a:r>
            <a:r>
              <a:rPr lang="fr-FR" dirty="0"/>
              <a:t>= ?</a:t>
            </a:r>
          </a:p>
          <a:p>
            <a:pPr marL="109725" indent="0">
              <a:buNone/>
            </a:pPr>
            <a:r>
              <a:rPr lang="fr-FR" dirty="0" smtClean="0"/>
              <a:t>TOFF </a:t>
            </a:r>
            <a:r>
              <a:rPr lang="fr-FR" dirty="0"/>
              <a:t>= 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Topic 4: Cycle – Frequency – Duty Cycle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8396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liê</a:t>
            </a:r>
            <a:r>
              <a:rPr lang="en-US" dirty="0" err="1" smtClean="0"/>
              <a:t>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: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- </a:t>
            </a:r>
            <a:r>
              <a:rPr lang="en-US" dirty="0" err="1" smtClean="0"/>
              <a:t>Dutycycle</a:t>
            </a:r>
            <a:r>
              <a:rPr lang="en-US" dirty="0" smtClean="0"/>
              <a:t> –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mức</a:t>
            </a:r>
            <a:r>
              <a:rPr lang="en-US" dirty="0" smtClean="0"/>
              <a:t> 1 </a:t>
            </a:r>
            <a:r>
              <a:rPr lang="en-US" dirty="0" err="1" smtClean="0"/>
              <a:t>mức</a:t>
            </a:r>
            <a:r>
              <a:rPr lang="en-US" dirty="0" smtClean="0"/>
              <a:t> 0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.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DFA, while (1) </a:t>
            </a:r>
            <a:r>
              <a:rPr lang="en-US" dirty="0" err="1" smtClean="0"/>
              <a:t>hoặc</a:t>
            </a:r>
            <a:r>
              <a:rPr lang="en-US" dirty="0" smtClean="0"/>
              <a:t> software timer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5: Trace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9125" t="16889" r="17125" b="45111"/>
          <a:stretch/>
        </p:blipFill>
        <p:spPr>
          <a:xfrm>
            <a:off x="434339" y="3453256"/>
            <a:ext cx="8245491" cy="276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3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Blinky</a:t>
            </a:r>
            <a:r>
              <a:rPr lang="en-US" dirty="0" smtClean="0"/>
              <a:t> LED1(PA5) and LED2(PC9) every 2 seconds</a:t>
            </a:r>
          </a:p>
          <a:p>
            <a:pPr lvl="1"/>
            <a:r>
              <a:rPr lang="en-US" dirty="0" smtClean="0"/>
              <a:t>Hint: </a:t>
            </a:r>
            <a:r>
              <a:rPr lang="en-US" dirty="0" err="1" smtClean="0"/>
              <a:t>HAL_GPIO_Toggle</a:t>
            </a:r>
            <a:r>
              <a:rPr lang="en-US" dirty="0" smtClean="0"/>
              <a:t> in while(1)</a:t>
            </a:r>
          </a:p>
          <a:p>
            <a:pPr lvl="1"/>
            <a:endParaRPr lang="en-US" dirty="0"/>
          </a:p>
          <a:p>
            <a:r>
              <a:rPr lang="en-US" dirty="0" err="1" smtClean="0"/>
              <a:t>Blinky</a:t>
            </a:r>
            <a:r>
              <a:rPr lang="en-US" dirty="0" smtClean="0"/>
              <a:t> LED1(PA5) every 2 seconds using timer interrupt</a:t>
            </a:r>
          </a:p>
          <a:p>
            <a:pPr lvl="1"/>
            <a:r>
              <a:rPr lang="en-US" dirty="0" smtClean="0"/>
              <a:t>Hint: Use a counter</a:t>
            </a:r>
          </a:p>
          <a:p>
            <a:pPr lvl="1"/>
            <a:endParaRPr lang="en-US" dirty="0"/>
          </a:p>
          <a:p>
            <a:r>
              <a:rPr lang="en-US" dirty="0" smtClean="0"/>
              <a:t>Scan LED1 and LED2 with 50Hz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80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Configure Timer2 Interrupt for every (</a:t>
            </a:r>
            <a:r>
              <a:rPr lang="en-US" b="1" dirty="0" smtClean="0"/>
              <a:t>Cycle T =</a:t>
            </a:r>
            <a:r>
              <a:rPr lang="en-US" dirty="0" smtClean="0"/>
              <a:t>) 10ms 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Generate a pulse on PA5 having </a:t>
            </a:r>
            <a:r>
              <a:rPr lang="en-US" b="1" dirty="0" err="1" smtClean="0"/>
              <a:t>freq</a:t>
            </a:r>
            <a:r>
              <a:rPr lang="en-US" dirty="0" smtClean="0"/>
              <a:t> = 50Hz and </a:t>
            </a:r>
            <a:r>
              <a:rPr lang="en-US" b="1" dirty="0" smtClean="0"/>
              <a:t>Duty Cycle</a:t>
            </a:r>
            <a:r>
              <a:rPr lang="en-US" dirty="0" smtClean="0"/>
              <a:t> = 50%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4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421" y="1889903"/>
            <a:ext cx="6231973" cy="287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7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01" y="1776862"/>
            <a:ext cx="6431678" cy="299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4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90" y="1901495"/>
            <a:ext cx="6165299" cy="29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8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363" y="1683678"/>
            <a:ext cx="5726554" cy="300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0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992" y="1917040"/>
            <a:ext cx="7461667" cy="299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0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640" y="1841829"/>
            <a:ext cx="6856994" cy="255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2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254" y="1622844"/>
            <a:ext cx="6254655" cy="36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0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6136640"/>
            <a:ext cx="9010221" cy="583634"/>
          </a:xfrm>
        </p:spPr>
        <p:txBody>
          <a:bodyPr/>
          <a:lstStyle/>
          <a:p>
            <a:r>
              <a:rPr lang="en-US" dirty="0" smtClean="0"/>
              <a:t>Define some constants, global variables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err="1" smtClean="0"/>
              <a:t>global.h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3" b="2227"/>
          <a:stretch/>
        </p:blipFill>
        <p:spPr>
          <a:xfrm>
            <a:off x="1320799" y="1190625"/>
            <a:ext cx="6518275" cy="437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5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965"/>
          <a:stretch/>
        </p:blipFill>
        <p:spPr>
          <a:xfrm>
            <a:off x="2674189" y="1771650"/>
            <a:ext cx="4155236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6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58" y="1560482"/>
            <a:ext cx="5783742" cy="443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061" y="1438184"/>
            <a:ext cx="5437158" cy="445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3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" id="{9308F140-5CDC-477D-BC4D-9C1906451284}" vid="{11C5112C-663B-4E6D-9D3D-2361F8FA32D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D44557-C150-4AA7-97B1-62E8021520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0</TotalTime>
  <Words>425</Words>
  <Application>Microsoft Office PowerPoint</Application>
  <PresentationFormat>On-screen Show (4:3)</PresentationFormat>
  <Paragraphs>120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Century Gothic</vt:lpstr>
      <vt:lpstr>Georgia</vt:lpstr>
      <vt:lpstr>Impact</vt:lpstr>
      <vt:lpstr>Tahoma</vt:lpstr>
      <vt:lpstr>Wingdings</vt:lpstr>
      <vt:lpstr>Wingdings 2</vt:lpstr>
      <vt:lpstr>Training presentation</vt:lpstr>
      <vt:lpstr>MIDTERM SUMARY</vt:lpstr>
      <vt:lpstr>Thông tin chung</vt:lpstr>
      <vt:lpstr>Topic 1: Vi xử lý và Vi điều khiển</vt:lpstr>
      <vt:lpstr>Topic 2: GPIO</vt:lpstr>
      <vt:lpstr>Topic 3: Interrupt – Timer Interrupt</vt:lpstr>
      <vt:lpstr>Topic 4: Cycle – Frequency – Duty Cycle</vt:lpstr>
      <vt:lpstr>Topic 4: Cycle – Frequency – Duty Cycle</vt:lpstr>
      <vt:lpstr>Topic 5: Trace theo chương trình</vt:lpstr>
      <vt:lpstr>Kiến thức ôn tập</vt:lpstr>
      <vt:lpstr>Exercise</vt:lpstr>
      <vt:lpstr>MCQ</vt:lpstr>
      <vt:lpstr>MCQ</vt:lpstr>
      <vt:lpstr>MCQ</vt:lpstr>
      <vt:lpstr>MCQ</vt:lpstr>
      <vt:lpstr>MCQ</vt:lpstr>
      <vt:lpstr>MCQ</vt:lpstr>
      <vt:lpstr>MCQ</vt:lpstr>
      <vt:lpstr>Create global.h</vt:lpstr>
      <vt:lpstr>MCQ</vt:lpstr>
      <vt:lpstr>MCQ</vt:lpstr>
      <vt:lpstr>MCQ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2014-07-29T03:47:45Z</dcterms:created>
  <dcterms:modified xsi:type="dcterms:W3CDTF">2025-10-16T02:59:46Z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