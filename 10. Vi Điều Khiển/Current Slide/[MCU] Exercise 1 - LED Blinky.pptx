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7102475" cy="10233025"/>
  <p:embeddedFontLst>
    <p:embeddedFont>
      <p:font typeface="Tahoma"/>
      <p:regular r:id="rId15"/>
      <p:bold r:id="rId16"/>
    </p:embeddedFont>
    <p:embeddedFont>
      <p:font typeface="Century Gothic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orient="horz" pos="4128">
          <p15:clr>
            <a:srgbClr val="A4A3A4"/>
          </p15:clr>
        </p15:guide>
        <p15:guide id="5" pos="2880">
          <p15:clr>
            <a:srgbClr val="A4A3A4"/>
          </p15:clr>
        </p15:guide>
        <p15:guide id="6" pos="5472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sObUdaFRfYcZIQIlbA9qMLJz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4128" orient="horz"/>
        <p:guide pos="2880"/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Tahoma-regular.fntdata"/><Relationship Id="rId14" Type="http://schemas.openxmlformats.org/officeDocument/2006/relationships/slide" Target="slides/slide9.xml"/><Relationship Id="rId17" Type="http://schemas.openxmlformats.org/officeDocument/2006/relationships/font" Target="fonts/CenturyGothic-regular.fntdata"/><Relationship Id="rId16" Type="http://schemas.openxmlformats.org/officeDocument/2006/relationships/font" Target="fonts/Tahoma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CenturyGothic-italic.fntdata"/><Relationship Id="rId6" Type="http://schemas.openxmlformats.org/officeDocument/2006/relationships/slide" Target="slides/slide1.xml"/><Relationship Id="rId18" Type="http://schemas.openxmlformats.org/officeDocument/2006/relationships/font" Target="fonts/CenturyGothic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092" y="0"/>
            <a:ext cx="3077739" cy="51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1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  <a:noFill/>
          <a:ln>
            <a:noFill/>
          </a:ln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:notes"/>
          <p:cNvSpPr txBox="1"/>
          <p:nvPr>
            <p:ph idx="12" type="sldNum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  <a:noFill/>
          <a:ln>
            <a:noFill/>
          </a:ln>
        </p:spPr>
        <p:txBody>
          <a:bodyPr anchorCtr="0" anchor="b" bIns="49525" lIns="99050" spcFirstLastPara="1" rIns="99050" wrap="square" tIns="495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anchorCtr="0" anchor="t" bIns="49525" lIns="99050" spcFirstLastPara="1" rIns="99050" wrap="square" tIns="4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249363" y="1279525"/>
            <a:ext cx="4603750" cy="3452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/>
        </p:nvSpPr>
        <p:spPr>
          <a:xfrm flipH="1" rot="10800000">
            <a:off x="5410184" y="3810004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1"/>
          <p:cNvSpPr/>
          <p:nvPr/>
        </p:nvSpPr>
        <p:spPr>
          <a:xfrm flipH="1" rot="10800000">
            <a:off x="5410202" y="3897010"/>
            <a:ext cx="3733801" cy="192024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1"/>
          <p:cNvSpPr/>
          <p:nvPr/>
        </p:nvSpPr>
        <p:spPr>
          <a:xfrm flipH="1" rot="10800000">
            <a:off x="5410202" y="4115167"/>
            <a:ext cx="3733801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 flipH="1" rot="10800000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1"/>
          <p:cNvSpPr/>
          <p:nvPr/>
        </p:nvSpPr>
        <p:spPr>
          <a:xfrm flipH="1" rot="10800000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1"/>
          <p:cNvSpPr/>
          <p:nvPr/>
        </p:nvSpPr>
        <p:spPr>
          <a:xfrm>
            <a:off x="5410200" y="3962400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1"/>
          <p:cNvSpPr/>
          <p:nvPr/>
        </p:nvSpPr>
        <p:spPr>
          <a:xfrm>
            <a:off x="7376507" y="406098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1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1"/>
          <p:cNvSpPr/>
          <p:nvPr/>
        </p:nvSpPr>
        <p:spPr>
          <a:xfrm>
            <a:off x="2" y="3675531"/>
            <a:ext cx="9144001" cy="14067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1"/>
          <p:cNvSpPr/>
          <p:nvPr/>
        </p:nvSpPr>
        <p:spPr>
          <a:xfrm flipH="1" rot="10800000">
            <a:off x="6414051" y="3643090"/>
            <a:ext cx="2729950" cy="248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1"/>
          <p:cNvSpPr txBox="1"/>
          <p:nvPr>
            <p:ph idx="1" type="subTitle"/>
          </p:nvPr>
        </p:nvSpPr>
        <p:spPr>
          <a:xfrm>
            <a:off x="449495" y="3889662"/>
            <a:ext cx="49530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type="ctrTitle"/>
          </p:nvPr>
        </p:nvSpPr>
        <p:spPr>
          <a:xfrm>
            <a:off x="426378" y="2401891"/>
            <a:ext cx="8458200" cy="10813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Impact"/>
              <a:buNone/>
              <a:defRPr sz="4400">
                <a:solidFill>
                  <a:schemeClr val="lt1"/>
                </a:solidFill>
                <a:latin typeface="Impact"/>
                <a:ea typeface="Impact"/>
                <a:cs typeface="Impact"/>
                <a:sym typeface="Impac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  <a:defRPr sz="2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81000" lvl="1" marL="914400" algn="just">
              <a:spcBef>
                <a:spcPts val="300"/>
              </a:spcBef>
              <a:spcAft>
                <a:spcPts val="0"/>
              </a:spcAft>
              <a:buSzPts val="2400"/>
              <a:buChar char="▫"/>
              <a:def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8300" lvl="3" marL="1828800" algn="l">
              <a:spcBef>
                <a:spcPts val="300"/>
              </a:spcBef>
              <a:spcAft>
                <a:spcPts val="0"/>
              </a:spcAft>
              <a:buSzPts val="22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  <a:defRPr b="1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/>
        </p:nvSpPr>
        <p:spPr>
          <a:xfrm>
            <a:off x="0" y="16778"/>
            <a:ext cx="21114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Exercises on STM32F103RB</a:t>
            </a:r>
            <a:endParaRPr b="1" i="1" sz="12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6" name="Google Shape;46;p12"/>
          <p:cNvSpPr txBox="1"/>
          <p:nvPr/>
        </p:nvSpPr>
        <p:spPr>
          <a:xfrm>
            <a:off x="8810625" y="6591300"/>
            <a:ext cx="35137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08A5E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b="1" sz="1200">
              <a:solidFill>
                <a:srgbClr val="08A5E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722313" y="3367088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2100"/>
              <a:buNone/>
              <a:defRPr b="0" sz="21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722313" y="1981204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300"/>
              <a:buFont typeface="Calibri"/>
              <a:buNone/>
              <a:defRPr b="1" sz="4300" cap="none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4648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2" type="body"/>
          </p:nvPr>
        </p:nvSpPr>
        <p:spPr>
          <a:xfrm>
            <a:off x="457200" y="2249428"/>
            <a:ext cx="4038600" cy="4341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49250" lvl="1" marL="914400" algn="l">
              <a:spcBef>
                <a:spcPts val="300"/>
              </a:spcBef>
              <a:spcAft>
                <a:spcPts val="0"/>
              </a:spcAft>
              <a:buSzPts val="1900"/>
              <a:buChar char="▫"/>
              <a:defRPr sz="19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718306" y="2708519"/>
            <a:ext cx="4041775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4721227" y="2244970"/>
            <a:ext cx="4041775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3" type="body"/>
          </p:nvPr>
        </p:nvSpPr>
        <p:spPr>
          <a:xfrm>
            <a:off x="381000" y="2708519"/>
            <a:ext cx="4041648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spcBef>
                <a:spcPts val="300"/>
              </a:spcBef>
              <a:spcAft>
                <a:spcPts val="0"/>
              </a:spcAft>
              <a:buSzPts val="2000"/>
              <a:buChar char="•"/>
              <a:defRPr sz="2000"/>
            </a:lvl1pPr>
            <a:lvl2pPr indent="-355600" lvl="1" marL="914400" algn="l">
              <a:spcBef>
                <a:spcPts val="300"/>
              </a:spcBef>
              <a:spcAft>
                <a:spcPts val="0"/>
              </a:spcAft>
              <a:buSzPts val="2000"/>
              <a:buChar char="▫"/>
              <a:defRPr sz="2000"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4" type="body"/>
          </p:nvPr>
        </p:nvSpPr>
        <p:spPr>
          <a:xfrm>
            <a:off x="381000" y="2244970"/>
            <a:ext cx="4041648" cy="457200"/>
          </a:xfrm>
          <a:prstGeom prst="rect">
            <a:avLst/>
          </a:prstGeom>
          <a:solidFill>
            <a:srgbClr val="9ED47A">
              <a:alpha val="24705"/>
            </a:srgbClr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900"/>
              <a:buNone/>
              <a:defRPr b="1" sz="1900">
                <a:solidFill>
                  <a:srgbClr val="414141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81000" y="1143000"/>
            <a:ext cx="83820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583680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1143000"/>
            <a:ext cx="8229600" cy="10698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152400" y="776290"/>
            <a:ext cx="5102352" cy="58050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3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300"/>
              </a:spcBef>
              <a:spcAft>
                <a:spcPts val="0"/>
              </a:spcAft>
              <a:buSzPts val="2800"/>
              <a:buChar char="▫"/>
              <a:defRPr sz="2800"/>
            </a:lvl2pPr>
            <a:lvl3pPr indent="-381000" lvl="2" marL="1371600" algn="l">
              <a:spcBef>
                <a:spcPts val="30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5353496" y="2010730"/>
            <a:ext cx="3383280" cy="458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5353496" y="1101970"/>
            <a:ext cx="3383280" cy="8778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libri"/>
              <a:buNone/>
              <a:defRPr b="1"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9"/>
          <p:cNvSpPr/>
          <p:nvPr>
            <p:ph idx="2" type="pic"/>
          </p:nvPr>
        </p:nvSpPr>
        <p:spPr>
          <a:xfrm>
            <a:off x="403671" y="1143000"/>
            <a:ext cx="4572000" cy="4572000"/>
          </a:xfrm>
          <a:prstGeom prst="rect">
            <a:avLst/>
          </a:prstGeom>
          <a:solidFill>
            <a:srgbClr val="EAEAEA"/>
          </a:solidFill>
          <a:ln cap="flat" cmpd="sng" w="508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tl" dir="4800000" dist="31750">
              <a:srgbClr val="000000">
                <a:alpha val="24705"/>
              </a:srgbClr>
            </a:outerShdw>
          </a:effectLst>
        </p:spPr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6088443" y="3274312"/>
            <a:ext cx="2590800" cy="2516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4570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Font typeface="Calibri"/>
              <a:buNone/>
              <a:defRPr sz="13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SzPts val="1000"/>
              <a:buFont typeface="Calibri"/>
              <a:buNone/>
              <a:defRPr sz="10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SzPts val="900"/>
              <a:buFont typeface="Calibri"/>
              <a:buNone/>
              <a:defRPr sz="900"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 rot="-5400000">
            <a:off x="3393019" y="3156579"/>
            <a:ext cx="4681637" cy="586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 rot="5400000">
            <a:off x="2409444" y="297180"/>
            <a:ext cx="432511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 rot="5400000">
            <a:off x="857250" y="742950"/>
            <a:ext cx="54483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00"/>
              </a:spcBef>
              <a:spcAft>
                <a:spcPts val="0"/>
              </a:spcAft>
              <a:buSzPts val="1800"/>
              <a:buChar char="▫"/>
              <a:defRPr/>
            </a:lvl2pPr>
            <a:lvl3pPr indent="-342900" lvl="2" marL="1371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type="title"/>
          </p:nvPr>
        </p:nvSpPr>
        <p:spPr>
          <a:xfrm rot="5400000">
            <a:off x="5010150" y="2914650"/>
            <a:ext cx="54483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>
            <a:off x="1" y="366822"/>
            <a:ext cx="9144000" cy="84407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0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0"/>
          <p:cNvSpPr/>
          <p:nvPr/>
        </p:nvSpPr>
        <p:spPr>
          <a:xfrm>
            <a:off x="2" y="308280"/>
            <a:ext cx="9144001" cy="914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0"/>
          <p:cNvSpPr/>
          <p:nvPr/>
        </p:nvSpPr>
        <p:spPr>
          <a:xfrm flipH="1" rot="10800000">
            <a:off x="5410184" y="360250"/>
            <a:ext cx="3733819" cy="910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0"/>
          <p:cNvSpPr/>
          <p:nvPr/>
        </p:nvSpPr>
        <p:spPr>
          <a:xfrm flipH="1" rot="10800000">
            <a:off x="5410202" y="440116"/>
            <a:ext cx="3733801" cy="180035"/>
          </a:xfrm>
          <a:prstGeom prst="rect">
            <a:avLst/>
          </a:prstGeom>
          <a:solidFill>
            <a:schemeClr val="accent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0"/>
          <p:cNvSpPr/>
          <p:nvPr/>
        </p:nvSpPr>
        <p:spPr>
          <a:xfrm>
            <a:off x="5407339" y="497504"/>
            <a:ext cx="3063240" cy="2743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0"/>
          <p:cNvSpPr/>
          <p:nvPr/>
        </p:nvSpPr>
        <p:spPr>
          <a:xfrm>
            <a:off x="7373646" y="588943"/>
            <a:ext cx="1600200" cy="3657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0"/>
          <p:cNvSpPr/>
          <p:nvPr/>
        </p:nvSpPr>
        <p:spPr>
          <a:xfrm>
            <a:off x="9084967" y="-2001"/>
            <a:ext cx="57626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0"/>
          <p:cNvSpPr/>
          <p:nvPr/>
        </p:nvSpPr>
        <p:spPr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470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0"/>
          <p:cNvSpPr/>
          <p:nvPr/>
        </p:nvSpPr>
        <p:spPr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0"/>
          <p:cNvSpPr/>
          <p:nvPr/>
        </p:nvSpPr>
        <p:spPr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0"/>
          <p:cNvSpPr/>
          <p:nvPr/>
        </p:nvSpPr>
        <p:spPr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0"/>
          <p:cNvSpPr/>
          <p:nvPr/>
        </p:nvSpPr>
        <p:spPr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2980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6586536" y="612648"/>
            <a:ext cx="95726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8174736" y="2272"/>
            <a:ext cx="76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Georgia"/>
              <a:buChar char="•"/>
              <a:defRPr b="0" i="0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Georgia"/>
              <a:buChar char="▫"/>
              <a:defRPr b="0" i="0" sz="2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830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  <a:defRPr b="0" i="0" sz="22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1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/>
          <p:nvPr>
            <p:ph type="ctrTitle"/>
          </p:nvPr>
        </p:nvSpPr>
        <p:spPr>
          <a:xfrm>
            <a:off x="-151103" y="388375"/>
            <a:ext cx="8650800" cy="251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400"/>
              <a:buFont typeface="Impact"/>
              <a:buNone/>
            </a:pPr>
            <a:r>
              <a:rPr lang="en-US">
                <a:solidFill>
                  <a:srgbClr val="FFFF00"/>
                </a:solidFill>
              </a:rPr>
              <a:t>Exercise on STM32F103RB</a:t>
            </a:r>
            <a:endParaRPr/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797" y="4097701"/>
            <a:ext cx="4017812" cy="2671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6980" y="4356170"/>
            <a:ext cx="3657600" cy="926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0605" y="5350889"/>
            <a:ext cx="4603975" cy="1143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STM32F103RB Schematic</a:t>
            </a:r>
            <a:endParaRPr/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643" y="1181577"/>
            <a:ext cx="6051713" cy="402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550" y="5133836"/>
            <a:ext cx="4828374" cy="122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0924" y="5157126"/>
            <a:ext cx="3733232" cy="927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Blinky LED1(PA5) and LED2(PC9) every 2 seconds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Hint: HAL_GPIO_Toggle in while(1)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Blinky LED1(PA5) every 2 seconds using timer interrupt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Hint: Use a counter</a:t>
            </a:r>
            <a:endParaRPr/>
          </a:p>
          <a:p>
            <a:pPr indent="-944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Scan LED1 and LED2 with 50Hz </a:t>
            </a:r>
            <a:endParaRPr/>
          </a:p>
        </p:txBody>
      </p:sp>
      <p:sp>
        <p:nvSpPr>
          <p:cNvPr id="126" name="Google Shape;126;p3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First Program on STM32F103RB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idx="1" type="body"/>
          </p:nvPr>
        </p:nvSpPr>
        <p:spPr>
          <a:xfrm>
            <a:off x="38529" y="4614729"/>
            <a:ext cx="9010221" cy="2105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Cycle (T) = </a:t>
            </a:r>
            <a:r>
              <a:rPr lang="en-US"/>
              <a:t>On-period + OFF-period </a:t>
            </a:r>
            <a:r>
              <a:rPr b="1" lang="en-US"/>
              <a:t>(s)</a:t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b="1" lang="en-US"/>
              <a:t>Frequency (F) = </a:t>
            </a:r>
            <a:r>
              <a:rPr lang="en-US"/>
              <a:t>1 /T   </a:t>
            </a:r>
            <a:r>
              <a:rPr b="1" lang="en-US"/>
              <a:t>(Hz)</a:t>
            </a:r>
            <a:endParaRPr/>
          </a:p>
          <a:p>
            <a:pPr indent="-256026" lvl="0" marL="365751" rtl="0" algn="just">
              <a:spcBef>
                <a:spcPts val="30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Duty Cycle = ON-period/T </a:t>
            </a:r>
            <a:r>
              <a:rPr b="1" lang="en-US"/>
              <a:t>(%)</a:t>
            </a:r>
            <a:endParaRPr b="1"/>
          </a:p>
        </p:txBody>
      </p:sp>
      <p:sp>
        <p:nvSpPr>
          <p:cNvPr id="132" name="Google Shape;132;p4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LED Blinky</a:t>
            </a:r>
            <a:endParaRPr/>
          </a:p>
        </p:txBody>
      </p:sp>
      <p:pic>
        <p:nvPicPr>
          <p:cNvPr descr="Using TIMER1 to blink a LED once per second for 50ms - Programming  Questions - Arduino Forum" id="133" name="Google Shape;1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302" y="1771266"/>
            <a:ext cx="4672801" cy="18902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ED Driver Selection | element14 India" id="134" name="Google Shape;1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007" y="1771266"/>
            <a:ext cx="3706620" cy="1844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Configure Timer2 Interrupt for every (</a:t>
            </a:r>
            <a:r>
              <a:rPr b="1" lang="en-US"/>
              <a:t>Cycle T =</a:t>
            </a:r>
            <a:r>
              <a:rPr lang="en-US"/>
              <a:t>) 10ms  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  <a:p>
            <a:pPr indent="-2560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Generate a pulse on PA5 having </a:t>
            </a:r>
            <a:r>
              <a:rPr b="1" lang="en-US"/>
              <a:t>freq</a:t>
            </a:r>
            <a:r>
              <a:rPr lang="en-US"/>
              <a:t> = 50Hz and </a:t>
            </a:r>
            <a:r>
              <a:rPr b="1" lang="en-US"/>
              <a:t>Duty Cycle</a:t>
            </a:r>
            <a:r>
              <a:rPr lang="en-US"/>
              <a:t> = 50%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Exercise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just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A state machine is a behavior model. It consists of a finite number of states and is therefore also called </a:t>
            </a:r>
            <a:r>
              <a:rPr b="1" lang="en-US"/>
              <a:t>finite-state machine</a:t>
            </a:r>
            <a:r>
              <a:rPr lang="en-US"/>
              <a:t> (FSM). Based on the current state and a given input the machine performs state transitions and produces outputs.</a:t>
            </a:r>
            <a:endParaRPr/>
          </a:p>
        </p:txBody>
      </p:sp>
      <p:sp>
        <p:nvSpPr>
          <p:cNvPr id="146" name="Google Shape;146;p6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State Machine</a:t>
            </a:r>
            <a:endParaRPr/>
          </a:p>
        </p:txBody>
      </p:sp>
      <p:pic>
        <p:nvPicPr>
          <p:cNvPr descr="Tic-tac-toe - Java Game Programming Case Study" id="147" name="Google Shape;14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92324" y="3120501"/>
            <a:ext cx="4976670" cy="3449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>
            <p:ph idx="1" type="body"/>
          </p:nvPr>
        </p:nvSpPr>
        <p:spPr>
          <a:xfrm>
            <a:off x="38529" y="1283517"/>
            <a:ext cx="9010221" cy="54367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Char char="▪"/>
            </a:pPr>
            <a:r>
              <a:rPr lang="en-US"/>
              <a:t>Given an LED turns on for </a:t>
            </a:r>
            <a:r>
              <a:rPr b="1" lang="en-US"/>
              <a:t>T_on = 2s</a:t>
            </a:r>
            <a:r>
              <a:rPr lang="en-US"/>
              <a:t> and then turns off for </a:t>
            </a:r>
            <a:r>
              <a:rPr b="1" lang="en-US"/>
              <a:t>T_off = 3s</a:t>
            </a:r>
            <a:r>
              <a:rPr lang="en-US"/>
              <a:t>.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Design an DFA for this LED</a:t>
            </a:r>
            <a:endParaRPr/>
          </a:p>
          <a:p>
            <a:pPr indent="-246882" lvl="1" marL="658352" rtl="0" algn="just">
              <a:spcBef>
                <a:spcPts val="300"/>
              </a:spcBef>
              <a:spcAft>
                <a:spcPts val="0"/>
              </a:spcAft>
              <a:buSzPts val="2400"/>
              <a:buChar char="▫"/>
            </a:pPr>
            <a:r>
              <a:rPr lang="en-US"/>
              <a:t>Implement the DFA in STM32F103RB</a:t>
            </a:r>
            <a:endParaRPr/>
          </a:p>
          <a:p>
            <a:pPr indent="-90926" lvl="0" marL="365751" rtl="0" algn="l">
              <a:spcBef>
                <a:spcPts val="300"/>
              </a:spcBef>
              <a:spcAft>
                <a:spcPts val="0"/>
              </a:spcAft>
              <a:buSzPts val="26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LED BLinky</a:t>
            </a:r>
            <a:endParaRPr/>
          </a:p>
        </p:txBody>
      </p:sp>
      <p:pic>
        <p:nvPicPr>
          <p:cNvPr id="154" name="Google Shape;154;p7"/>
          <p:cNvPicPr preferRelativeResize="0"/>
          <p:nvPr/>
        </p:nvPicPr>
        <p:blipFill rotWithShape="1">
          <a:blip r:embed="rId3">
            <a:alphaModFix/>
          </a:blip>
          <a:srcRect b="45111" l="19125" r="17124" t="16889"/>
          <a:stretch/>
        </p:blipFill>
        <p:spPr>
          <a:xfrm>
            <a:off x="434339" y="3453256"/>
            <a:ext cx="8245491" cy="2764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/>
          <p:nvPr>
            <p:ph idx="1" type="body"/>
          </p:nvPr>
        </p:nvSpPr>
        <p:spPr>
          <a:xfrm>
            <a:off x="38529" y="6136640"/>
            <a:ext cx="9010221" cy="5836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6026" lvl="0" marL="365751" rtl="0" algn="l">
              <a:spcBef>
                <a:spcPts val="0"/>
              </a:spcBef>
              <a:spcAft>
                <a:spcPts val="0"/>
              </a:spcAft>
              <a:buSzPts val="2600"/>
              <a:buFont typeface="Noto Sans Symbols"/>
              <a:buChar char="▪"/>
            </a:pPr>
            <a:r>
              <a:rPr lang="en-US"/>
              <a:t>Define some constants, global variables</a:t>
            </a:r>
            <a:endParaRPr/>
          </a:p>
        </p:txBody>
      </p:sp>
      <p:sp>
        <p:nvSpPr>
          <p:cNvPr id="160" name="Google Shape;160;p8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Create global.h</a:t>
            </a:r>
            <a:endParaRPr/>
          </a:p>
        </p:txBody>
      </p:sp>
      <p:pic>
        <p:nvPicPr>
          <p:cNvPr id="161" name="Google Shape;161;p8"/>
          <p:cNvPicPr preferRelativeResize="0"/>
          <p:nvPr/>
        </p:nvPicPr>
        <p:blipFill rotWithShape="1">
          <a:blip r:embed="rId3">
            <a:alphaModFix/>
          </a:blip>
          <a:srcRect b="2227" l="243" r="0" t="0"/>
          <a:stretch/>
        </p:blipFill>
        <p:spPr>
          <a:xfrm>
            <a:off x="1320799" y="1190625"/>
            <a:ext cx="6518275" cy="4377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38529" y="475180"/>
            <a:ext cx="9010222" cy="749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Century Gothic"/>
              <a:buNone/>
            </a:pPr>
            <a:r>
              <a:rPr lang="en-US"/>
              <a:t>Implement global.h</a:t>
            </a:r>
            <a:endParaRPr/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586" y="1684972"/>
            <a:ext cx="7310107" cy="4431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raining presentation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Green Yellow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2014-07-29T03:47:45Z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TC034606049991</vt:lpwstr>
  </property>
</Properties>
</file>