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7102475" cy="10233025"/>
  <p:embeddedFontLst>
    <p:embeddedFont>
      <p:font typeface="Tahoma"/>
      <p:regular r:id="rId37"/>
      <p:bold r:id="rId38"/>
    </p:embeddedFont>
    <p:embeddedFont>
      <p:font typeface="Roboto Mono"/>
      <p:regular r:id="rId39"/>
      <p:bold r:id="rId40"/>
      <p:italic r:id="rId41"/>
      <p:boldItalic r:id="rId42"/>
    </p:embeddedFont>
    <p:embeddedFont>
      <p:font typeface="Century Gothic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4128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gWrekvmQg9bfJItD1NgHjWsMSj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0F4309-4A99-4370-A6E6-4FA265E39F25}">
  <a:tblStyle styleId="{C30F4309-4A99-4370-A6E6-4FA265E39F2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7296"/>
        <p:guide pos="4128" orient="horz"/>
        <p:guide pos="2880"/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44" Type="http://schemas.openxmlformats.org/officeDocument/2006/relationships/font" Target="fonts/CenturyGothic-bold.fntdata"/><Relationship Id="rId21" Type="http://schemas.openxmlformats.org/officeDocument/2006/relationships/slide" Target="slides/slide15.xml"/><Relationship Id="rId43" Type="http://schemas.openxmlformats.org/officeDocument/2006/relationships/font" Target="fonts/CenturyGothic-regular.fntdata"/><Relationship Id="rId24" Type="http://schemas.openxmlformats.org/officeDocument/2006/relationships/slide" Target="slides/slide18.xml"/><Relationship Id="rId46" Type="http://schemas.openxmlformats.org/officeDocument/2006/relationships/font" Target="fonts/CenturyGothic-boldItalic.fntdata"/><Relationship Id="rId23" Type="http://schemas.openxmlformats.org/officeDocument/2006/relationships/slide" Target="slides/slide17.xml"/><Relationship Id="rId45" Type="http://schemas.openxmlformats.org/officeDocument/2006/relationships/font" Target="fonts/CenturyGothic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Tahoma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0.xml"/><Relationship Id="rId38" Type="http://schemas.openxmlformats.org/officeDocument/2006/relationships/font" Target="fonts/Tahom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2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2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2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2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2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2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2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3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/>
          <p:nvPr/>
        </p:nvSpPr>
        <p:spPr>
          <a:xfrm flipH="1" rot="10800000">
            <a:off x="5410184" y="3810004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2"/>
          <p:cNvSpPr/>
          <p:nvPr/>
        </p:nvSpPr>
        <p:spPr>
          <a:xfrm flipH="1" rot="10800000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2"/>
          <p:cNvSpPr/>
          <p:nvPr/>
        </p:nvSpPr>
        <p:spPr>
          <a:xfrm flipH="1" rot="10800000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431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2"/>
          <p:cNvSpPr/>
          <p:nvPr/>
        </p:nvSpPr>
        <p:spPr>
          <a:xfrm flipH="1" rot="10800000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2"/>
          <p:cNvSpPr/>
          <p:nvPr/>
        </p:nvSpPr>
        <p:spPr>
          <a:xfrm flipH="1" rot="10800000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31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2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2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2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2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2"/>
          <p:cNvSpPr/>
          <p:nvPr/>
        </p:nvSpPr>
        <p:spPr>
          <a:xfrm flipH="1" rot="10800000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2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2"/>
          <p:cNvSpPr txBox="1"/>
          <p:nvPr>
            <p:ph idx="1" type="subTitle"/>
          </p:nvPr>
        </p:nvSpPr>
        <p:spPr>
          <a:xfrm>
            <a:off x="449495" y="3889662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type="ctrTitle"/>
          </p:nvPr>
        </p:nvSpPr>
        <p:spPr>
          <a:xfrm>
            <a:off x="426378" y="2401891"/>
            <a:ext cx="8458200" cy="10813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  <a:defRPr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  <a:defRPr b="1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/>
        </p:nvSpPr>
        <p:spPr>
          <a:xfrm>
            <a:off x="0" y="16778"/>
            <a:ext cx="62488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CO3037 – </a:t>
            </a:r>
            <a:r>
              <a:rPr b="1" i="1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Lecture 3: Device Driver for Embedded Internet of Things (IoTs) Platforms</a:t>
            </a:r>
            <a:endParaRPr b="1" i="1" sz="12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" name="Google Shape;46;p33"/>
          <p:cNvSpPr txBox="1"/>
          <p:nvPr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8A5E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i="0" sz="1200" u="none" cap="none" strike="noStrike">
              <a:solidFill>
                <a:srgbClr val="08A5E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4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4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type="title"/>
          </p:nvPr>
        </p:nvSpPr>
        <p:spPr>
          <a:xfrm>
            <a:off x="722313" y="198120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Calibri"/>
              <a:buNone/>
              <a:defRPr b="1" sz="430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35"/>
          <p:cNvSpPr txBox="1"/>
          <p:nvPr>
            <p:ph idx="1" type="body"/>
          </p:nvPr>
        </p:nvSpPr>
        <p:spPr>
          <a:xfrm>
            <a:off x="4648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2" type="body"/>
          </p:nvPr>
        </p:nvSpPr>
        <p:spPr>
          <a:xfrm>
            <a:off x="457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4718306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36"/>
          <p:cNvSpPr txBox="1"/>
          <p:nvPr>
            <p:ph idx="2" type="body"/>
          </p:nvPr>
        </p:nvSpPr>
        <p:spPr>
          <a:xfrm>
            <a:off x="4721227" y="2244970"/>
            <a:ext cx="4041775" cy="457200"/>
          </a:xfrm>
          <a:prstGeom prst="rect">
            <a:avLst/>
          </a:prstGeom>
          <a:solidFill>
            <a:srgbClr val="9ED47A">
              <a:alpha val="24313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4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9ED47A">
              <a:alpha val="24313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7"/>
          <p:cNvSpPr txBox="1"/>
          <p:nvPr>
            <p:ph idx="10" type="dt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37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39"/>
          <p:cNvSpPr txBox="1"/>
          <p:nvPr>
            <p:ph idx="1" type="body"/>
          </p:nvPr>
        </p:nvSpPr>
        <p:spPr>
          <a:xfrm>
            <a:off x="152400" y="776290"/>
            <a:ext cx="5102352" cy="580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2" type="body"/>
          </p:nvPr>
        </p:nvSpPr>
        <p:spPr>
          <a:xfrm>
            <a:off x="5353496" y="2010730"/>
            <a:ext cx="3383280" cy="458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40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313"/>
              </a:srgbClr>
            </a:outerShdw>
          </a:effectLst>
        </p:spPr>
      </p:sp>
      <p:sp>
        <p:nvSpPr>
          <p:cNvPr id="90" name="Google Shape;90;p40"/>
          <p:cNvSpPr txBox="1"/>
          <p:nvPr>
            <p:ph idx="1" type="body"/>
          </p:nvPr>
        </p:nvSpPr>
        <p:spPr>
          <a:xfrm>
            <a:off x="6088443" y="3274312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None/>
              <a:defRPr sz="13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type="title"/>
          </p:nvPr>
        </p:nvSpPr>
        <p:spPr>
          <a:xfrm rot="-5400000">
            <a:off x="3393019" y="3156579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41"/>
          <p:cNvSpPr txBox="1"/>
          <p:nvPr>
            <p:ph idx="1" type="body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2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2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2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42"/>
          <p:cNvSpPr txBox="1"/>
          <p:nvPr>
            <p:ph idx="1" type="body"/>
          </p:nvPr>
        </p:nvSpPr>
        <p:spPr>
          <a:xfrm rot="5400000">
            <a:off x="857250" y="742950"/>
            <a:ext cx="54483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3" name="Google Shape;103;p42"/>
          <p:cNvSpPr txBox="1"/>
          <p:nvPr>
            <p:ph type="title"/>
          </p:nvPr>
        </p:nvSpPr>
        <p:spPr>
          <a:xfrm rot="5400000">
            <a:off x="5010150" y="2914650"/>
            <a:ext cx="5448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31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31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1"/>
          <p:cNvSpPr/>
          <p:nvPr/>
        </p:nvSpPr>
        <p:spPr>
          <a:xfrm flipH="1" rot="10800000">
            <a:off x="5410184" y="36025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1"/>
          <p:cNvSpPr/>
          <p:nvPr/>
        </p:nvSpPr>
        <p:spPr>
          <a:xfrm flipH="1" rot="10800000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1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1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1"/>
          <p:cNvSpPr/>
          <p:nvPr/>
        </p:nvSpPr>
        <p:spPr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431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1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31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1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1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1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1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1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1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n.wikipedia.org/wiki/Universal_asynchronous_receiver/transmitter" TargetMode="External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androidthings/sample-uartloopback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7.jpg"/><Relationship Id="rId6" Type="http://schemas.openxmlformats.org/officeDocument/2006/relationships/image" Target="../media/image6.jpg"/><Relationship Id="rId7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dropbox.com/s/7xuwege5pjv6fis/Terminal.exe?dl=0" TargetMode="External"/><Relationship Id="rId4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en.wikipedia.org/wiki/Serial_Peripheral_Interface_Bus" TargetMode="External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.android.com/reference/com/google/android/things/pio/SpiDevice#mode0" TargetMode="External"/><Relationship Id="rId4" Type="http://schemas.openxmlformats.org/officeDocument/2006/relationships/hyperlink" Target="https://developer.android.com/reference/com/google/android/things/pio/SpiDevice#mode1" TargetMode="External"/><Relationship Id="rId5" Type="http://schemas.openxmlformats.org/officeDocument/2006/relationships/hyperlink" Target="https://developer.android.com/reference/com/google/android/things/pio/SpiDevice#mode2" TargetMode="External"/><Relationship Id="rId6" Type="http://schemas.openxmlformats.org/officeDocument/2006/relationships/hyperlink" Target="https://developer.android.com/reference/com/google/android/things/pio/SpiDevice#mode3" TargetMode="External"/><Relationship Id="rId7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hyperlink" Target="https://developer.android.com/things/sdk/pio/i2c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Serial Communication in MCU</a:t>
            </a:r>
            <a:endParaRPr/>
          </a:p>
        </p:txBody>
      </p:sp>
      <p:pic>
        <p:nvPicPr>
          <p:cNvPr id="110" name="Google Shape;110;p1"/>
          <p:cNvPicPr preferRelativeResize="0"/>
          <p:nvPr/>
        </p:nvPicPr>
        <p:blipFill rotWithShape="1">
          <a:blip r:embed="rId3">
            <a:alphaModFix/>
          </a:blip>
          <a:srcRect b="0" l="2840" r="-2840" t="0"/>
          <a:stretch/>
        </p:blipFill>
        <p:spPr>
          <a:xfrm>
            <a:off x="233800" y="3966772"/>
            <a:ext cx="4854373" cy="307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3775" y="4361650"/>
            <a:ext cx="3131481" cy="25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Device Driver Overview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Serial Communication Device Driver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Universal Asynchronous Receiver/Transmitter (UART)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Serial Peripheral Interface (SPI)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Inter-Integrated Circuit (I2C)</a:t>
            </a:r>
            <a:endParaRPr/>
          </a:p>
          <a:p>
            <a:pPr indent="-944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Summary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Content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Device driver</a:t>
            </a:r>
            <a:r>
              <a:rPr lang="en-US"/>
              <a:t> is a </a:t>
            </a:r>
            <a:r>
              <a:rPr b="1" lang="en-US"/>
              <a:t>particular software application</a:t>
            </a:r>
            <a:r>
              <a:rPr lang="en-US"/>
              <a:t> that is designed to enable interaction with hardware devices.</a:t>
            </a:r>
            <a:endParaRPr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Device drivers are </a:t>
            </a:r>
            <a:r>
              <a:rPr b="1" lang="en-US"/>
              <a:t>operating system-specific</a:t>
            </a:r>
            <a:r>
              <a:rPr lang="en-US"/>
              <a:t> and </a:t>
            </a:r>
            <a:r>
              <a:rPr b="1" lang="en-US"/>
              <a:t>hardware-dependent</a:t>
            </a:r>
            <a:r>
              <a:rPr lang="en-US"/>
              <a:t>.</a:t>
            </a:r>
            <a:endParaRPr/>
          </a:p>
          <a:p>
            <a:pPr indent="-909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For embedded platforms running OS, device drivers are considered as part of firmware.</a:t>
            </a:r>
            <a:endParaRPr/>
          </a:p>
          <a:p>
            <a:pPr indent="-909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Firmware is the software which executes on the embedded system's CPU (written in assembler and C), was complied and the </a:t>
            </a:r>
            <a:r>
              <a:rPr b="1" lang="en-US"/>
              <a:t>binary burned onto an EPROM</a:t>
            </a:r>
            <a:r>
              <a:rPr lang="en-US"/>
              <a:t>. </a:t>
            </a:r>
            <a:endParaRPr/>
          </a:p>
        </p:txBody>
      </p:sp>
      <p:sp>
        <p:nvSpPr>
          <p:cNvPr id="123" name="Google Shape;123;p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What is Device Driver?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sz="2800"/>
              <a:t>Provide uniform APIs to access hardware.</a:t>
            </a:r>
            <a:endParaRPr/>
          </a:p>
          <a:p>
            <a:pPr indent="-782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Custom platforms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Contain many peripheral devices and kernel supported CPU</a:t>
            </a:r>
            <a:endParaRPr/>
          </a:p>
          <a:p>
            <a:pPr indent="-219449" lvl="2" marL="92352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Get kernel to boot on the board</a:t>
            </a:r>
            <a:endParaRPr/>
          </a:p>
          <a:p>
            <a:pPr indent="-219449" lvl="2" marL="92352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Device drivers to allow applications to access peripheral devices</a:t>
            </a:r>
            <a:endParaRPr/>
          </a:p>
          <a:p>
            <a:pPr indent="-782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Why Do We Need Device Driver?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Device drivers, over the years, have become very complex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Drivers are separated into classes</a:t>
            </a:r>
            <a:endParaRPr/>
          </a:p>
          <a:p>
            <a:pPr indent="-219449" lvl="2" marL="92352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Serial, network, audio, video, touch panel, etc.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Layer approach is used</a:t>
            </a:r>
            <a:endParaRPr/>
          </a:p>
          <a:p>
            <a:pPr indent="-219449" lvl="2" marL="92352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To support a new device, a layer is modified instead of rewriting the entire driver</a:t>
            </a:r>
            <a:endParaRPr/>
          </a:p>
          <a:p>
            <a:pPr indent="-219449" lvl="2" marL="92352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Processing functions required for a given class often do not require modification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Device Driver Models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Device Driver Architecture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295400" y="1676400"/>
            <a:ext cx="6705600" cy="1219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Drivers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334000" y="2438400"/>
            <a:ext cx="2667000" cy="4572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Interrupt Service Threads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295400" y="4267200"/>
            <a:ext cx="6705600" cy="1219200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334000" y="4267200"/>
            <a:ext cx="2667000" cy="533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Interrrupt Service Routines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6"/>
          <p:cNvCxnSpPr/>
          <p:nvPr/>
        </p:nvCxnSpPr>
        <p:spPr>
          <a:xfrm>
            <a:off x="4495800" y="4267200"/>
            <a:ext cx="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6"/>
          <p:cNvCxnSpPr/>
          <p:nvPr/>
        </p:nvCxnSpPr>
        <p:spPr>
          <a:xfrm>
            <a:off x="838200" y="3581400"/>
            <a:ext cx="7543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6"/>
          <p:cNvSpPr txBox="1"/>
          <p:nvPr/>
        </p:nvSpPr>
        <p:spPr>
          <a:xfrm>
            <a:off x="5943600" y="4953000"/>
            <a:ext cx="5597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2362200" y="4648200"/>
            <a:ext cx="8445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6"/>
          <p:cNvCxnSpPr/>
          <p:nvPr/>
        </p:nvCxnSpPr>
        <p:spPr>
          <a:xfrm rot="10800000">
            <a:off x="6400800" y="2895600"/>
            <a:ext cx="0" cy="137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6"/>
          <p:cNvSpPr txBox="1"/>
          <p:nvPr/>
        </p:nvSpPr>
        <p:spPr>
          <a:xfrm>
            <a:off x="1127125" y="3236913"/>
            <a:ext cx="14795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Mode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Mode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 most popular connection in hardware devices</a:t>
            </a:r>
            <a:endParaRPr/>
          </a:p>
        </p:txBody>
      </p:sp>
      <p:sp>
        <p:nvSpPr>
          <p:cNvPr id="156" name="Google Shape;156;p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Serial Communication using UART</a:t>
            </a:r>
            <a:endParaRPr/>
          </a:p>
        </p:txBody>
      </p:sp>
      <p:pic>
        <p:nvPicPr>
          <p:cNvPr descr="Image result for uart communication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25" y="1975268"/>
            <a:ext cx="3752214" cy="183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roduction to UART - Packet, Frame, and Bits" id="158" name="Google Shape;1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7856" y="2135685"/>
            <a:ext cx="3615816" cy="1615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art communication diagram" id="159" name="Google Shape;15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3639" y="4154031"/>
            <a:ext cx="4438763" cy="141044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 txBox="1"/>
          <p:nvPr/>
        </p:nvSpPr>
        <p:spPr>
          <a:xfrm>
            <a:off x="345443" y="4688274"/>
            <a:ext cx="413184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UART, RS232 and RS485?</a:t>
            </a:r>
            <a:endParaRPr b="1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UART stands for </a:t>
            </a:r>
            <a:r>
              <a:rPr lang="en-US" u="sng">
                <a:solidFill>
                  <a:schemeClr val="hlink"/>
                </a:solidFill>
                <a:hlinkClick r:id="rId3"/>
              </a:rPr>
              <a:t>Universal Asynchronous Receiver Transmitter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It is </a:t>
            </a:r>
            <a:r>
              <a:rPr b="1" i="1" lang="en-US"/>
              <a:t>universal</a:t>
            </a:r>
            <a:r>
              <a:rPr lang="en-US"/>
              <a:t> because both the data transfer speed and data byte format are configurable.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It is </a:t>
            </a:r>
            <a:r>
              <a:rPr b="1" i="1" lang="en-US"/>
              <a:t>asynchronous</a:t>
            </a:r>
            <a:r>
              <a:rPr lang="en-US"/>
              <a:t> in that there are no clock signals present to synchronize the data transfer between the two devices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UART data transfer is </a:t>
            </a:r>
            <a:r>
              <a:rPr b="1" i="1" lang="en-US"/>
              <a:t>full-duplex</a:t>
            </a:r>
            <a:r>
              <a:rPr lang="en-US"/>
              <a:t>, meaning data can be sent and received at the same time</a:t>
            </a:r>
            <a:endParaRPr/>
          </a:p>
        </p:txBody>
      </p:sp>
      <p:sp>
        <p:nvSpPr>
          <p:cNvPr id="166" name="Google Shape;166;p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UART Device Driver on Android Things</a:t>
            </a:r>
            <a:endParaRPr/>
          </a:p>
        </p:txBody>
      </p:sp>
      <p:pic>
        <p:nvPicPr>
          <p:cNvPr descr="&quot;uart-connections&quot;" id="167" name="Google Shape;16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301" y="5192077"/>
            <a:ext cx="7686675" cy="133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https://github.com/androidthings/sample-uartloopback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Adding the required permission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Managing the connection</a:t>
            </a:r>
            <a:endParaRPr/>
          </a:p>
        </p:txBody>
      </p:sp>
      <p:sp>
        <p:nvSpPr>
          <p:cNvPr id="173" name="Google Shape;173;p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UART Implementation</a:t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772160" y="2344959"/>
            <a:ext cx="7955280" cy="4205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&lt;uses-permission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android:name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"com.google.android.things.permission.USE_PERIPHERAL_IO"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/&gt;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772160" y="4096390"/>
            <a:ext cx="5134162" cy="17132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manager =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.getInstance();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deviceList = manager.getUartDeviceList();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(deviceList.isEmpty())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.i(TAG,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"No UART port available on this device."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.i(TAG,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"List of available devices: 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+ deviceList);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Open an UART Port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Close an UART Port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UART Implementation</a:t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1495553" y="2020319"/>
            <a:ext cx="5718286" cy="149778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manager =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.getInstance();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mDevice = manager.openUartDevice(UART_DEVICE_NAME);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.w(TAG,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"Unable to access UART device"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483360" y="3856629"/>
            <a:ext cx="4556697" cy="300588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3929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protected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onDestroy()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super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.onDestroy();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(mDevice !=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mDevice.close();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mDevice =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}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.w(TAG,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"Unable to close UART device"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}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491855" y="1712501"/>
            <a:ext cx="5721983" cy="4205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private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mDevice;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Configure the frame format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Baudrate</a:t>
            </a:r>
            <a:r>
              <a:rPr lang="en-US"/>
              <a:t>: Communication speed in baud. In computer, it is equivalent to bits per second (bps)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UART Implementation</a:t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1432560" y="2033908"/>
            <a:ext cx="5560818" cy="17132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configureUartFrame(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uart)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Configure the UART port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uart.setBaudrate(</a:t>
            </a: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115200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uart.setDataSize(</a:t>
            </a: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uart.setParity(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.PARITY_NONE);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uart.setStopBits(</a:t>
            </a: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Send a message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Receive a message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97" name="Google Shape;197;p1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UART Implementation</a:t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1391920" y="1853111"/>
            <a:ext cx="5065489" cy="128233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writeUartData(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uart)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byte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buffer = {...};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count = uart.write(buffer, buffer.length);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.d(TAG,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"Wrote 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+ count +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 bytes to peripheral"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518160" y="3957777"/>
            <a:ext cx="4121321" cy="282122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000"/>
              <a:buFont typeface="Roboto Mono"/>
              <a:buNone/>
            </a:pP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private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UartDeviceCallback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mUartCallback =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UartDeviceCallback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0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onUartDeviceDataAvailable(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uart)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0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Read available data from the UART device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readUartBuffer(uart);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}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e)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.w(TAG, </a:t>
            </a:r>
            <a:r>
              <a:rPr b="0" i="0" lang="en-US" sz="10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"Unable to access UART device"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e);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}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0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onUartDeviceError(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uart,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error)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.w(TAG, uart + </a:t>
            </a:r>
            <a:r>
              <a:rPr b="0" i="0" lang="en-US" sz="10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": Error event "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+ error);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};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5119112" y="3957777"/>
            <a:ext cx="3669274" cy="17440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000"/>
              <a:buFont typeface="Roboto Mono"/>
              <a:buNone/>
            </a:pP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readUartBuffer(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uart)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0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Maximum amount of data to read at one time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final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maxCount = ...;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byte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buffer =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byte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[maxCount];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count;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((count = uart.read(buffer, buffer.length)) &gt; </a:t>
            </a:r>
            <a:r>
              <a:rPr b="0" i="0" lang="en-US" sz="10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.d(TAG, </a:t>
            </a:r>
            <a:r>
              <a:rPr b="0" i="0" lang="en-US" sz="10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"Read "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+ count + </a:t>
            </a:r>
            <a:r>
              <a:rPr b="0" i="0" lang="en-US" sz="10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 bytes from peripheral"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}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 </a:t>
            </a:r>
            <a:r>
              <a:rPr b="1" lang="en-US"/>
              <a:t>AT command </a:t>
            </a:r>
            <a:r>
              <a:rPr lang="en-US"/>
              <a:t>(AT stands for attention)</a:t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Wireless Modules using UART Interface</a:t>
            </a:r>
            <a:endParaRPr/>
          </a:p>
        </p:txBody>
      </p:sp>
      <p:pic>
        <p:nvPicPr>
          <p:cNvPr descr="Image result for sim800L" id="207" name="Google Shape;207;p13"/>
          <p:cNvPicPr preferRelativeResize="0"/>
          <p:nvPr/>
        </p:nvPicPr>
        <p:blipFill rotWithShape="1">
          <a:blip r:embed="rId3">
            <a:alphaModFix/>
          </a:blip>
          <a:srcRect b="18975" l="5555" r="3312" t="6923"/>
          <a:stretch/>
        </p:blipFill>
        <p:spPr>
          <a:xfrm>
            <a:off x="750148" y="2104074"/>
            <a:ext cx="4400972" cy="1534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C-05 Bluetooth Module" id="208" name="Google Shape;208;p13"/>
          <p:cNvPicPr preferRelativeResize="0"/>
          <p:nvPr/>
        </p:nvPicPr>
        <p:blipFill rotWithShape="1">
          <a:blip r:embed="rId4">
            <a:alphaModFix/>
          </a:blip>
          <a:srcRect b="10265" l="0" r="0" t="7600"/>
          <a:stretch/>
        </p:blipFill>
        <p:spPr>
          <a:xfrm>
            <a:off x="442447" y="4511039"/>
            <a:ext cx="2707427" cy="2043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xbee" id="209" name="Google Shape;20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3790" y="4255612"/>
            <a:ext cx="2298701" cy="229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3"/>
          <p:cNvSpPr txBox="1"/>
          <p:nvPr/>
        </p:nvSpPr>
        <p:spPr>
          <a:xfrm>
            <a:off x="1238282" y="6488668"/>
            <a:ext cx="1115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Bluetooth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4219737" y="6488668"/>
            <a:ext cx="660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XBee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2262705" y="3762575"/>
            <a:ext cx="12155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GSM/GPRS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UART Lora SX1278" id="213" name="Google Shape;213;p13"/>
          <p:cNvPicPr preferRelativeResize="0"/>
          <p:nvPr/>
        </p:nvPicPr>
        <p:blipFill rotWithShape="1">
          <a:blip r:embed="rId6">
            <a:alphaModFix/>
          </a:blip>
          <a:srcRect b="5781" l="16782" r="15894" t="672"/>
          <a:stretch/>
        </p:blipFill>
        <p:spPr>
          <a:xfrm>
            <a:off x="6707167" y="3272067"/>
            <a:ext cx="2314936" cy="32166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3"/>
          <p:cNvSpPr txBox="1"/>
          <p:nvPr/>
        </p:nvSpPr>
        <p:spPr>
          <a:xfrm>
            <a:off x="7864635" y="6119336"/>
            <a:ext cx="10183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(SX1728)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lated image" id="215" name="Google Shape;215;p13"/>
          <p:cNvPicPr preferRelativeResize="0"/>
          <p:nvPr/>
        </p:nvPicPr>
        <p:blipFill rotWithShape="1">
          <a:blip r:embed="rId7">
            <a:alphaModFix/>
          </a:blip>
          <a:srcRect b="13922" l="21319" r="21347" t="12078"/>
          <a:stretch/>
        </p:blipFill>
        <p:spPr>
          <a:xfrm>
            <a:off x="5862739" y="1814173"/>
            <a:ext cx="2120594" cy="182469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3"/>
          <p:cNvSpPr txBox="1"/>
          <p:nvPr/>
        </p:nvSpPr>
        <p:spPr>
          <a:xfrm>
            <a:off x="7777753" y="1747190"/>
            <a:ext cx="11281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Wifi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(ESP8266)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/>
          <p:nvPr>
            <p:ph idx="1" type="body"/>
          </p:nvPr>
        </p:nvSpPr>
        <p:spPr>
          <a:xfrm>
            <a:off x="5845324" y="2384276"/>
            <a:ext cx="3100877" cy="1806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56025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1. Set Baudrate</a:t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3. Select COM Port</a:t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4. Click Connect</a:t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5. Send a testing command (AT)</a:t>
            </a:r>
            <a:endParaRPr/>
          </a:p>
        </p:txBody>
      </p:sp>
      <p:sp>
        <p:nvSpPr>
          <p:cNvPr id="222" name="Google Shape;222;p1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Hyper Terminal</a:t>
            </a:r>
            <a:br>
              <a:rPr lang="en-US"/>
            </a:br>
            <a:r>
              <a:rPr lang="en-US" sz="2000" u="sng">
                <a:solidFill>
                  <a:schemeClr val="hlink"/>
                </a:solidFill>
                <a:hlinkClick r:id="rId3"/>
              </a:rPr>
              <a:t>https://www.dropbox.com/s/7xuwege5pjv6fis/Terminal.exe?dl=0</a:t>
            </a:r>
            <a:endParaRPr/>
          </a:p>
        </p:txBody>
      </p:sp>
      <p:pic>
        <p:nvPicPr>
          <p:cNvPr descr="Hướng dẫn SIM900 Terminal.jpg" id="223" name="Google Shape;2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810" y="1424685"/>
            <a:ext cx="5559514" cy="4865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Send a SMS message to a phone: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AT+CMGF=1</a:t>
            </a:r>
            <a:endParaRPr sz="1600"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AT+CSCS="GSM"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AT+CMGS="84906362340"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Send text message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0x1A</a:t>
            </a:r>
            <a:endParaRPr sz="1600"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Send a GET request: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AT+SAPBR=1,1</a:t>
            </a:r>
            <a:endParaRPr sz="1600"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AT+HTTPINIT</a:t>
            </a:r>
            <a:endParaRPr sz="1600"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AT+HTTPPARA="CID",1</a:t>
            </a:r>
            <a:endParaRPr sz="1600"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AT+HTTPPARA="URL","http://www.iforce2d.net/test.php"</a:t>
            </a:r>
            <a:endParaRPr sz="1600"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AT+HTTPACTION=0</a:t>
            </a:r>
            <a:endParaRPr sz="1600"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AT+HTTPREAD</a:t>
            </a:r>
            <a:endParaRPr sz="1600"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AT+HTTPTERM</a:t>
            </a:r>
            <a:endParaRPr sz="1600"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Note: Every AT command ends with carry return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\r\n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0x0d 0x0a</a:t>
            </a:r>
            <a:endParaRPr/>
          </a:p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Example AT Commands for GSM/GPRS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S</a:t>
            </a:r>
            <a:r>
              <a:rPr lang="en-US"/>
              <a:t>erial </a:t>
            </a:r>
            <a:r>
              <a:rPr b="1" lang="en-US"/>
              <a:t>P</a:t>
            </a:r>
            <a:r>
              <a:rPr lang="en-US"/>
              <a:t>eripheral </a:t>
            </a:r>
            <a:r>
              <a:rPr b="1" lang="en-US"/>
              <a:t>I</a:t>
            </a:r>
            <a:r>
              <a:rPr lang="en-US"/>
              <a:t>nterface (SPI) is an interface bus commonly used to send data between </a:t>
            </a:r>
            <a:r>
              <a:rPr b="1" lang="en-US"/>
              <a:t>microcontrollers</a:t>
            </a:r>
            <a:r>
              <a:rPr lang="en-US"/>
              <a:t> and small peripherals such as shift </a:t>
            </a:r>
            <a:r>
              <a:rPr b="1" lang="en-US"/>
              <a:t>registers, sensors, and SD cards</a:t>
            </a:r>
            <a:endParaRPr/>
          </a:p>
          <a:p>
            <a:pPr indent="-909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1"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Separate clock (SCK), data lines (MISO, MOSI) and chip select (CS) are used.</a:t>
            </a:r>
            <a:endParaRPr/>
          </a:p>
          <a:p>
            <a:pPr indent="-909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Synchronous protocol</a:t>
            </a:r>
            <a:endParaRPr/>
          </a:p>
        </p:txBody>
      </p:sp>
      <p:sp>
        <p:nvSpPr>
          <p:cNvPr id="235" name="Google Shape;235;p1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Serial Communication using SPI</a:t>
            </a:r>
            <a:endParaRPr/>
          </a:p>
        </p:txBody>
      </p:sp>
      <p:pic>
        <p:nvPicPr>
          <p:cNvPr descr="Image result for SPI connection" id="236" name="Google Shape;2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3185" y="4094363"/>
            <a:ext cx="4420243" cy="268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Asynchronous (UART):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There is no CLOCK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Clock drift issue 🡪 low speed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Synchronous (SPI):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There is a CLOCK line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High speed </a:t>
            </a:r>
            <a:endParaRPr/>
          </a:p>
        </p:txBody>
      </p:sp>
      <p:sp>
        <p:nvSpPr>
          <p:cNvPr id="242" name="Google Shape;242;p1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Asynchronous vs Synchronous Protocol</a:t>
            </a:r>
            <a:endParaRPr/>
          </a:p>
        </p:txBody>
      </p:sp>
      <p:pic>
        <p:nvPicPr>
          <p:cNvPr descr="Asynchronous serial waveform" id="243" name="Google Shape;2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2689" y="1283517"/>
            <a:ext cx="3810000" cy="170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 text" id="244" name="Google Shape;2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2689" y="3782821"/>
            <a:ext cx="38100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/>
          <p:nvPr>
            <p:ph idx="1" type="body"/>
          </p:nvPr>
        </p:nvSpPr>
        <p:spPr>
          <a:xfrm>
            <a:off x="38529" y="5717893"/>
            <a:ext cx="9010221" cy="1002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Clock is generated by the master</a:t>
            </a:r>
            <a:endParaRPr b="1"/>
          </a:p>
        </p:txBody>
      </p:sp>
      <p:sp>
        <p:nvSpPr>
          <p:cNvPr id="250" name="Google Shape;250;p1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SPI Protocol</a:t>
            </a:r>
            <a:endParaRPr/>
          </a:p>
        </p:txBody>
      </p:sp>
      <p:pic>
        <p:nvPicPr>
          <p:cNvPr descr="alt text" id="251" name="Google Shape;2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6542" y="1143771"/>
            <a:ext cx="5285999" cy="449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Serial Peripheral Interface</a:t>
            </a:r>
            <a:r>
              <a:rPr lang="en-US"/>
              <a:t> (SPI) devices are typically found where fast data transfer rates are required (e.g. external non-volatile memory and graphical displays)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Clock speeds are typically in the 16MHz to 25MHz range. </a:t>
            </a:r>
            <a:endParaRPr/>
          </a:p>
        </p:txBody>
      </p:sp>
      <p:sp>
        <p:nvSpPr>
          <p:cNvPr id="257" name="Google Shape;257;p1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SPI Device Driver on Android Things</a:t>
            </a:r>
            <a:endParaRPr/>
          </a:p>
        </p:txBody>
      </p:sp>
      <p:pic>
        <p:nvPicPr>
          <p:cNvPr descr="&quot;spi-connections&quot;" id="258" name="Google Shape;2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562" y="3171824"/>
            <a:ext cx="8048625" cy="368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Adding the required permission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Managing the device connection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64" name="Google Shape;264;p2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Implement SPI 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486137" y="2171210"/>
            <a:ext cx="7987764" cy="4205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&lt;uses-permission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android:name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"com.google.android.things.permission.USE_PERIPHERAL_IO"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/&gt;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995424" y="3799411"/>
            <a:ext cx="5134162" cy="17132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manager =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.getInstance();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deviceList = manager.getSpiBusList();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(deviceList.isEmpty())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.i(TAG,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"No SPI bus available on this device."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.i(TAG,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"List of available devices: 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+ deviceList);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Open SPI Port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0" lvl="0" marL="109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Close SPI Port</a:t>
            </a:r>
            <a:endParaRPr/>
          </a:p>
        </p:txBody>
      </p:sp>
      <p:sp>
        <p:nvSpPr>
          <p:cNvPr id="272" name="Google Shape;272;p21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Implementation SPI</a:t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1678399" y="1979842"/>
            <a:ext cx="5730479" cy="149778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manager =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.getInstance();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mDevice = manager.openSpiDevice(SPI_DEVICE_NAME);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.w(TAG,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"Unable to access SPI device"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3044413" y="3714389"/>
            <a:ext cx="4364465" cy="300588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3929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protected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onDestroy()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super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.onDestroy();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(mDevice !=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mDevice.close();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mDevice =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}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.w(TAG,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"Unable to close SPI device"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}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 txBox="1"/>
          <p:nvPr>
            <p:ph idx="1" type="body"/>
          </p:nvPr>
        </p:nvSpPr>
        <p:spPr>
          <a:xfrm>
            <a:off x="0" y="1421242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Configure SPI connection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▫"/>
            </a:pPr>
            <a:r>
              <a:rPr lang="en-US" sz="1400" u="sng">
                <a:solidFill>
                  <a:schemeClr val="hlink"/>
                </a:solidFill>
                <a:hlinkClick r:id="rId3"/>
              </a:rPr>
              <a:t>MODE0</a:t>
            </a:r>
            <a:r>
              <a:rPr lang="en-US" sz="1400"/>
              <a:t>: Clock signal idles low, data is transferred on the leading clock edge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▫"/>
            </a:pPr>
            <a:r>
              <a:rPr lang="en-US" sz="1400" u="sng">
                <a:solidFill>
                  <a:schemeClr val="hlink"/>
                </a:solidFill>
                <a:hlinkClick r:id="rId4"/>
              </a:rPr>
              <a:t>MODE1</a:t>
            </a:r>
            <a:r>
              <a:rPr lang="en-US" sz="1400"/>
              <a:t>: Clock signal idles low, data is transferred on the trailing clock edge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▫"/>
            </a:pPr>
            <a:r>
              <a:rPr lang="en-US" sz="1400" u="sng">
                <a:solidFill>
                  <a:schemeClr val="hlink"/>
                </a:solidFill>
                <a:hlinkClick r:id="rId5"/>
              </a:rPr>
              <a:t>MODE2</a:t>
            </a:r>
            <a:r>
              <a:rPr lang="en-US" sz="1400"/>
              <a:t>: Clock signal idles high, data is transferred on the leading clock edge</a:t>
            </a:r>
            <a:endParaRPr/>
          </a:p>
          <a:p>
            <a:pPr indent="-2468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▫"/>
            </a:pPr>
            <a:r>
              <a:rPr lang="en-US" sz="1400" u="sng">
                <a:solidFill>
                  <a:schemeClr val="hlink"/>
                </a:solidFill>
                <a:hlinkClick r:id="rId6"/>
              </a:rPr>
              <a:t>MODE3</a:t>
            </a:r>
            <a:r>
              <a:rPr lang="en-US" sz="1400"/>
              <a:t>: Clock signal idles high, data is transferred on the trailing clock edge</a:t>
            </a:r>
            <a:endParaRPr/>
          </a:p>
          <a:p>
            <a:pPr indent="-944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944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94482" lvl="1" marL="658352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Implement SPI</a:t>
            </a:r>
            <a:endParaRPr/>
          </a:p>
        </p:txBody>
      </p:sp>
      <p:pic>
        <p:nvPicPr>
          <p:cNvPr descr="spi-clock" id="281" name="Google Shape;28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48350" y="624719"/>
            <a:ext cx="320040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/>
          <p:nvPr/>
        </p:nvSpPr>
        <p:spPr>
          <a:xfrm>
            <a:off x="1465053" y="3763268"/>
            <a:ext cx="5983497" cy="21441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configureSpiDevice(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SpiDevice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device)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Low clock, leading edge transfer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device.setMode(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SpiDevice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.MODE0);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16MHz, 8BPW, MSB first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device.setFrequency(</a:t>
            </a: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16000000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device.setBitsPerWord(</a:t>
            </a: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device.setBitJustification(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SpiDevice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.BIT_JUSTIFICATION_MSB_FIRST);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Transferring and Receiving Data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If 2 bytes are sent and 2 bytes will be received, how many bytes for the buffer (the second parameter in sendCommand function)???</a:t>
            </a:r>
            <a:endParaRPr/>
          </a:p>
        </p:txBody>
      </p:sp>
      <p:sp>
        <p:nvSpPr>
          <p:cNvPr id="288" name="Google Shape;288;p2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Implement SPI</a:t>
            </a:r>
            <a:endParaRPr/>
          </a:p>
        </p:txBody>
      </p:sp>
      <p:sp>
        <p:nvSpPr>
          <p:cNvPr id="289" name="Google Shape;289;p23"/>
          <p:cNvSpPr/>
          <p:nvPr/>
        </p:nvSpPr>
        <p:spPr>
          <a:xfrm>
            <a:off x="1365718" y="2038640"/>
            <a:ext cx="6355842" cy="21441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sendCommand(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SpiDevice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device,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byte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buffer)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Shift data out to slave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device.write(buffer, buffer.length);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Read the response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byte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response =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byte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32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device.read(response, response.length);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...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Inter-integrated Circuit (I</a:t>
            </a:r>
            <a:r>
              <a:rPr baseline="30000" lang="en-US"/>
              <a:t>2</a:t>
            </a:r>
            <a:r>
              <a:rPr lang="en-US"/>
              <a:t>C) Protocol is a protocol intended to allow multiple “slave” digital integrated circuits (“chips”) to communicate with one or more “master” chips. 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Like the Serial Peripheral Interface (SPI), it is only intended for short distance communications within a single device. 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Like Asynchronous Serial Interfaces (such as RS-232 or UARTs), it only requires two signal wires to exchange information.</a:t>
            </a:r>
            <a:endParaRPr/>
          </a:p>
        </p:txBody>
      </p:sp>
      <p:sp>
        <p:nvSpPr>
          <p:cNvPr id="295" name="Google Shape;295;p2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Serial Communication using I2C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 txBox="1"/>
          <p:nvPr>
            <p:ph idx="1" type="body"/>
          </p:nvPr>
        </p:nvSpPr>
        <p:spPr>
          <a:xfrm>
            <a:off x="38529" y="1283517"/>
            <a:ext cx="5376337" cy="216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56025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Number of pins 🡪 Difficult in tight PCB layout </a:t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SPI only allows one master on the bus</a:t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SPI is good for high data rate </a:t>
            </a:r>
            <a:r>
              <a:rPr b="1" lang="en-US"/>
              <a:t>full-duplex</a:t>
            </a:r>
            <a:endParaRPr/>
          </a:p>
          <a:p>
            <a:pPr indent="-103308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01" name="Google Shape;301;p2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I2C vs SPI</a:t>
            </a:r>
            <a:endParaRPr/>
          </a:p>
        </p:txBody>
      </p:sp>
      <p:pic>
        <p:nvPicPr>
          <p:cNvPr descr="Block diagram of an SPI system." id="302" name="Google Shape;3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9132" y="1480287"/>
            <a:ext cx="3173536" cy="1830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ock diagram of an I2C system" id="303" name="Google Shape;30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4866" y="4001897"/>
            <a:ext cx="3380856" cy="202851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38529" y="4001897"/>
            <a:ext cx="5376337" cy="216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56025" lvl="0" marL="36575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Only two pins, like asynchronous serial, but can support up to 128 slave devices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25" lvl="0" marL="365751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Support a multi-master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25" lvl="0" marL="365751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rates is at 100kHz or 400kHz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"/>
          <p:cNvSpPr txBox="1"/>
          <p:nvPr>
            <p:ph idx="1" type="body"/>
          </p:nvPr>
        </p:nvSpPr>
        <p:spPr>
          <a:xfrm>
            <a:off x="235299" y="4109013"/>
            <a:ext cx="9010221" cy="240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Master sends START condition and controls the clock (SCL)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Master sends a unique 7-bit slave address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Master sends Read/Write bit: 0 write to slave, 1: read from slave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Slave which address is matched send ACK bit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Data (8bit) is transfered</a:t>
            </a:r>
            <a:endParaRPr sz="2400"/>
          </a:p>
        </p:txBody>
      </p:sp>
      <p:sp>
        <p:nvSpPr>
          <p:cNvPr id="310" name="Google Shape;310;p2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I2C Protocol</a:t>
            </a:r>
            <a:endParaRPr/>
          </a:p>
        </p:txBody>
      </p:sp>
      <p:pic>
        <p:nvPicPr>
          <p:cNvPr descr="Image result for I2C protocol" id="311" name="Google Shape;31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251" y="1094361"/>
            <a:ext cx="6838950" cy="272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I2C is a </a:t>
            </a:r>
            <a:r>
              <a:rPr b="1" i="1" lang="en-US"/>
              <a:t>synchronous</a:t>
            </a:r>
            <a:r>
              <a:rPr lang="en-US"/>
              <a:t> serial interface. The device in control of triggering the clock signal is known as the </a:t>
            </a:r>
            <a:r>
              <a:rPr b="1" i="1" lang="en-US"/>
              <a:t>master</a:t>
            </a:r>
            <a:r>
              <a:rPr lang="en-US"/>
              <a:t>. All other connected peripherals are known as </a:t>
            </a:r>
            <a:r>
              <a:rPr b="1" i="1" lang="en-US"/>
              <a:t>slaves</a:t>
            </a:r>
            <a:r>
              <a:rPr lang="en-US"/>
              <a:t>. Each device is connected to the same set of data signals to form a </a:t>
            </a:r>
            <a:r>
              <a:rPr b="1" i="1" lang="en-US"/>
              <a:t>bus</a:t>
            </a:r>
            <a:r>
              <a:rPr lang="en-US"/>
              <a:t>.</a:t>
            </a:r>
            <a:endParaRPr/>
          </a:p>
        </p:txBody>
      </p:sp>
      <p:sp>
        <p:nvSpPr>
          <p:cNvPr id="317" name="Google Shape;317;p2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Implement I2C</a:t>
            </a:r>
            <a:endParaRPr/>
          </a:p>
        </p:txBody>
      </p:sp>
      <p:pic>
        <p:nvPicPr>
          <p:cNvPr descr="I2C-connections" id="318" name="Google Shape;3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85" y="3435322"/>
            <a:ext cx="8048625" cy="311467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/>
          <p:nvPr/>
        </p:nvSpPr>
        <p:spPr>
          <a:xfrm>
            <a:off x="399045" y="5519946"/>
            <a:ext cx="310780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https://developer.android.com/things/sdk/pio/i2c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idx="1" type="body"/>
          </p:nvPr>
        </p:nvSpPr>
        <p:spPr>
          <a:xfrm>
            <a:off x="38529" y="5578997"/>
            <a:ext cx="9010221" cy="1141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56025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UART = Universal Asynchronous Receiver / Transmitter</a:t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SPI = Serial Peripheral Interface</a:t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I</a:t>
            </a:r>
            <a:r>
              <a:rPr baseline="30000" lang="en-US"/>
              <a:t>2</a:t>
            </a:r>
            <a:r>
              <a:rPr lang="en-US"/>
              <a:t>C = Inter-Integrated Circuit</a:t>
            </a:r>
            <a:endParaRPr/>
          </a:p>
        </p:txBody>
      </p:sp>
      <p:sp>
        <p:nvSpPr>
          <p:cNvPr id="325" name="Google Shape;325;p2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Summary</a:t>
            </a:r>
            <a:endParaRPr/>
          </a:p>
        </p:txBody>
      </p:sp>
      <p:pic>
        <p:nvPicPr>
          <p:cNvPr descr="UART, SPI, I2C image" id="326" name="Google Shape;3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9352" y="1396858"/>
            <a:ext cx="5458950" cy="3784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1" name="Google Shape;331;p29"/>
          <p:cNvGraphicFramePr/>
          <p:nvPr/>
        </p:nvGraphicFramePr>
        <p:xfrm>
          <a:off x="1203766" y="112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{C30F4309-4A99-4370-A6E6-4FA265E39F25}</a:tableStyleId>
              </a:tblPr>
              <a:tblGrid>
                <a:gridCol w="2199200"/>
                <a:gridCol w="2199200"/>
                <a:gridCol w="2199200"/>
              </a:tblGrid>
              <a:tr h="38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8475" marB="8475" marR="8475" marL="84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Description</a:t>
                      </a:r>
                      <a:endParaRPr sz="1400" u="none" cap="none" strike="noStrike"/>
                    </a:p>
                  </a:txBody>
                  <a:tcPr marT="8475" marB="8475" marR="8475" marL="84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Function</a:t>
                      </a:r>
                      <a:endParaRPr sz="1400" u="none" cap="none" strike="noStrike"/>
                    </a:p>
                  </a:txBody>
                  <a:tcPr marT="8475" marB="8475" marR="8475" marL="84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2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I</a:t>
                      </a:r>
                      <a:r>
                        <a:rPr b="1" baseline="30000" lang="en-US" sz="2000" u="none" cap="none" strike="noStrike"/>
                        <a:t>2</a:t>
                      </a:r>
                      <a:r>
                        <a:rPr b="1" lang="en-US" sz="2000" u="none" cap="none" strike="noStrike"/>
                        <a:t>C</a:t>
                      </a:r>
                      <a:endParaRPr sz="20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Inter-Integrated Circuit</a:t>
                      </a:r>
                      <a:endParaRPr sz="14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Half duplex, serial data transmission used for short-distance between boards, modules and peripherals. Uses 2 pins.</a:t>
                      </a:r>
                      <a:endParaRPr sz="14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1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SPI</a:t>
                      </a:r>
                      <a:endParaRPr sz="20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Serial Peripheral Interface bus</a:t>
                      </a:r>
                      <a:endParaRPr sz="14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Full-duplex, serial data transmission used for short-distance between devices. Uses 4 pins.</a:t>
                      </a:r>
                      <a:endParaRPr sz="14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UART</a:t>
                      </a:r>
                      <a:endParaRPr sz="20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Universal Asynchronous Receiver-Transmitter</a:t>
                      </a:r>
                      <a:endParaRPr sz="14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Full-duplex, Asynchronous, serial data transmission between devices. Uses 2 pins.</a:t>
                      </a:r>
                      <a:endParaRPr sz="14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2" name="Google Shape;332;p2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Serial Communications Methods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UART</a:t>
            </a:r>
            <a:r>
              <a:rPr lang="en-US"/>
              <a:t> - simple; not high speed; no clock needed; limited to one device connected to the Pi.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 b="1"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I2C</a:t>
            </a:r>
            <a:r>
              <a:rPr lang="en-US"/>
              <a:t> - faster than UART, but not as fast as SPI; easier to chain many devices; Pi drives the clock so no sync issues.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 b="1"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SPI</a:t>
            </a:r>
            <a:r>
              <a:rPr lang="en-US"/>
              <a:t> - fastest of the three; Pi drives the clock so no sync issues; practical limit to number of devices on the Pi.</a:t>
            </a:r>
            <a:br>
              <a:rPr lang="en-US"/>
            </a:br>
            <a:endParaRPr/>
          </a:p>
        </p:txBody>
      </p:sp>
      <p:sp>
        <p:nvSpPr>
          <p:cNvPr id="338" name="Google Shape;338;p3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Conclusion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aining presentation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2014-07-29T03:47:45Z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