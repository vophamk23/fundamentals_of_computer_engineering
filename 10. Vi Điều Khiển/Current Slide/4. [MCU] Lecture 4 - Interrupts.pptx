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7102475" cy="10233025"/>
  <p:embeddedFontLst>
    <p:embeddedFont>
      <p:font typeface="Tahoma"/>
      <p:regular r:id="rId23"/>
      <p:bold r:id="rId24"/>
    </p:embeddedFont>
    <p:embeddedFont>
      <p:font typeface="Century Gothic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XQ1Gf3bRrPCEL0yZ5KLUx1jte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4128" orient="horz"/>
        <p:guide pos="2880"/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Tahoma-bold.fntdata"/><Relationship Id="rId23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bold.fntdata"/><Relationship Id="rId25" Type="http://schemas.openxmlformats.org/officeDocument/2006/relationships/font" Target="fonts/CenturyGothic-regular.fntdata"/><Relationship Id="rId28" Type="http://schemas.openxmlformats.org/officeDocument/2006/relationships/font" Target="fonts/CenturyGothic-boldItalic.fntdata"/><Relationship Id="rId27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/>
          <p:nvPr/>
        </p:nvSpPr>
        <p:spPr>
          <a:xfrm flipH="1" rot="10800000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9"/>
          <p:cNvSpPr/>
          <p:nvPr/>
        </p:nvSpPr>
        <p:spPr>
          <a:xfrm flipH="1" rot="10800000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9"/>
          <p:cNvSpPr/>
          <p:nvPr/>
        </p:nvSpPr>
        <p:spPr>
          <a:xfrm flipH="1" rot="10800000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9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9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9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9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9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9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9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9"/>
          <p:cNvSpPr txBox="1"/>
          <p:nvPr>
            <p:ph idx="1" type="subTitle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algn="just"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algn="l"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/>
        </p:nvSpPr>
        <p:spPr>
          <a:xfrm>
            <a:off x="0" y="16778"/>
            <a:ext cx="21451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Interrupt in Microcontroller</a:t>
            </a:r>
            <a:endParaRPr b="1" i="1"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20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200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1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b="1" sz="430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22"/>
          <p:cNvSpPr txBox="1"/>
          <p:nvPr>
            <p:ph idx="1" type="body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2" type="body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2" type="body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4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6"/>
          <p:cNvSpPr txBox="1"/>
          <p:nvPr>
            <p:ph idx="1" type="body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2" type="body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27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705"/>
              </a:srgbClr>
            </a:outerShdw>
          </a:effectLst>
        </p:spPr>
      </p:sp>
      <p:sp>
        <p:nvSpPr>
          <p:cNvPr id="90" name="Google Shape;90;p27"/>
          <p:cNvSpPr txBox="1"/>
          <p:nvPr>
            <p:ph idx="1" type="body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27"/>
          <p:cNvSpPr txBox="1"/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28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28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29"/>
          <p:cNvSpPr txBox="1"/>
          <p:nvPr>
            <p:ph idx="1" type="body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8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8"/>
          <p:cNvSpPr/>
          <p:nvPr/>
        </p:nvSpPr>
        <p:spPr>
          <a:xfrm flipH="1" rot="10800000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8"/>
          <p:cNvSpPr/>
          <p:nvPr/>
        </p:nvSpPr>
        <p:spPr>
          <a:xfrm flipH="1" rot="10800000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8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8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8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8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8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8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8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8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gif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Interrupts in Microcontroller</a:t>
            </a:r>
            <a:br>
              <a:rPr lang="en-US">
                <a:solidFill>
                  <a:srgbClr val="FFFF00"/>
                </a:solidFill>
              </a:rPr>
            </a:br>
            <a:r>
              <a:rPr lang="en-US">
                <a:solidFill>
                  <a:srgbClr val="FFFF00"/>
                </a:solidFill>
              </a:rPr>
              <a:t>Timer Interrupt</a:t>
            </a:r>
            <a:endParaRPr/>
          </a:p>
        </p:txBody>
      </p:sp>
      <p:pic>
        <p:nvPicPr>
          <p:cNvPr descr="microcontroller-interrupts - MIKROE" id="110" name="Google Shape;11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1982" y="4382797"/>
            <a:ext cx="4142598" cy="2475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 rotWithShape="1">
          <a:blip r:embed="rId4">
            <a:alphaModFix/>
          </a:blip>
          <a:srcRect b="11251" l="0" r="36680" t="2831"/>
          <a:stretch/>
        </p:blipFill>
        <p:spPr>
          <a:xfrm>
            <a:off x="129624" y="3981730"/>
            <a:ext cx="3562699" cy="2876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38529" y="1283517"/>
            <a:ext cx="9010200" cy="54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Interrupt</a:t>
            </a:r>
            <a:r>
              <a:rPr lang="en-US"/>
              <a:t> is a signal from device attached to a computer or from a program </a:t>
            </a:r>
            <a:r>
              <a:rPr b="1" lang="en-US"/>
              <a:t>within a controller</a:t>
            </a:r>
            <a:r>
              <a:rPr lang="en-US"/>
              <a:t> that causes main program to stop and figure out what to do next. </a:t>
            </a:r>
            <a:endParaRPr/>
          </a:p>
          <a:p>
            <a:pPr indent="-909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1"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ISR (Interrupt Service Routine)</a:t>
            </a:r>
            <a:r>
              <a:rPr lang="en-US"/>
              <a:t> is executed when an interrupt occurs. A section of a program that takes control when an interrupt is received and perform the operations required to service the interrupt.</a:t>
            </a:r>
            <a:endParaRPr/>
          </a:p>
        </p:txBody>
      </p:sp>
      <p:sp>
        <p:nvSpPr>
          <p:cNvPr id="117" name="Google Shape;117;p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What is the Interrupt?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-77257" y="4697560"/>
            <a:ext cx="8638113" cy="1523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7126" lvl="0" marL="365751" rtl="0" algn="just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256025" lvl="0" marL="365751" rtl="0" algn="just">
              <a:spcBef>
                <a:spcPts val="300"/>
              </a:spcBef>
              <a:spcAft>
                <a:spcPts val="0"/>
              </a:spcAft>
              <a:buSzPts val="1400"/>
              <a:buChar char="▪"/>
            </a:pPr>
            <a:r>
              <a:rPr lang="en-US" sz="1400"/>
              <a:t>MCU/MPU </a:t>
            </a:r>
            <a:r>
              <a:rPr b="1" lang="en-US" sz="1400"/>
              <a:t>gets the program counter</a:t>
            </a:r>
            <a:r>
              <a:rPr lang="en-US" sz="1400"/>
              <a:t> (PC) address </a:t>
            </a:r>
            <a:r>
              <a:rPr b="1" lang="en-US" sz="1400"/>
              <a:t>from the stack pointer</a:t>
            </a:r>
            <a:r>
              <a:rPr lang="en-US" sz="1400"/>
              <a:t> by popping the top two bytes of the stack into the PC</a:t>
            </a:r>
            <a:endParaRPr/>
          </a:p>
          <a:p>
            <a:pPr indent="-167126" lvl="0" marL="365751" rtl="0" algn="just"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256025" lvl="0" marL="365751" rtl="0" algn="just">
              <a:spcBef>
                <a:spcPts val="300"/>
              </a:spcBef>
              <a:spcAft>
                <a:spcPts val="0"/>
              </a:spcAft>
              <a:buSzPts val="1400"/>
              <a:buChar char="▪"/>
            </a:pPr>
            <a:r>
              <a:rPr lang="en-US" sz="1400"/>
              <a:t>Then it starts to </a:t>
            </a:r>
            <a:r>
              <a:rPr b="1" lang="en-US" sz="1400"/>
              <a:t>execute from that address </a:t>
            </a:r>
            <a:r>
              <a:rPr lang="en-US" sz="1400"/>
              <a:t>and continue executing main program.</a:t>
            </a:r>
            <a:endParaRPr/>
          </a:p>
        </p:txBody>
      </p:sp>
      <p:sp>
        <p:nvSpPr>
          <p:cNvPr id="123" name="Google Shape;123;p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How Interrupt Works?</a:t>
            </a:r>
            <a:endParaRPr b="0"/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3">
            <a:alphaModFix/>
          </a:blip>
          <a:srcRect b="11251" l="0" r="36680" t="2831"/>
          <a:stretch/>
        </p:blipFill>
        <p:spPr>
          <a:xfrm>
            <a:off x="5559261" y="885712"/>
            <a:ext cx="3406140" cy="3615006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tps://ir-in.amazon-adsystem.com/e/ir?t=wwwbinaryupda-21&amp;l=li3&amp;o=31&amp;a=B018XJ0F5Y" id="125" name="Google Shape;125;p3"/>
          <p:cNvSpPr/>
          <p:nvPr/>
        </p:nvSpPr>
        <p:spPr>
          <a:xfrm>
            <a:off x="4241800" y="342900"/>
            <a:ext cx="9525" cy="9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-73232" y="1376081"/>
            <a:ext cx="5531691" cy="3512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56025" lvl="0" marL="365751" marR="0" rtl="0" algn="just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Whenever any device needs service of microcontroller, </a:t>
            </a:r>
            <a:r>
              <a:rPr b="1"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device notifies the microcontroller </a:t>
            </a: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by sending interrupt signal.</a:t>
            </a:r>
            <a:endParaRPr/>
          </a:p>
          <a:p>
            <a:pPr indent="-165221" lvl="0" marL="365751" marR="0" rtl="0" algn="just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None/>
            </a:pPr>
            <a:r>
              <a:t/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025" lvl="0" marL="365751" marR="0" rtl="0" algn="just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microcontroller stops or interrupt main program flow and </a:t>
            </a:r>
            <a:r>
              <a:rPr b="1"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saves the address of the next instruction (PC)</a:t>
            </a: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on the stack pointer (SP)</a:t>
            </a:r>
            <a:endParaRPr/>
          </a:p>
          <a:p>
            <a:pPr indent="-165221" lvl="0" marL="365751" marR="0" rtl="0" algn="just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None/>
            </a:pPr>
            <a:r>
              <a:t/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025" lvl="0" marL="365751" marR="0" rtl="0" algn="just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MCU/MPU jumps to a </a:t>
            </a:r>
            <a:r>
              <a:rPr b="1"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fixed location in memory</a:t>
            </a: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called interrupt vector table that hold the address of the ISR (Interrupt Service Routine). Each interrupt has its own ISR. The microcontroller gets the address of the ISR from the </a:t>
            </a:r>
            <a:r>
              <a:rPr b="1"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interrupt vector table </a:t>
            </a: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jump to it</a:t>
            </a:r>
            <a:endParaRPr/>
          </a:p>
          <a:p>
            <a:pPr indent="-165221" lvl="0" marL="365751" marR="0" rtl="0" algn="just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None/>
            </a:pPr>
            <a:r>
              <a:t/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025" lvl="0" marL="365751" marR="0" rtl="0" algn="just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starts to execute the Interrupt Service Routine until it reaches the last instruction of the subroutine which is RETI (</a:t>
            </a:r>
            <a:r>
              <a:rPr b="1"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from Interrupt</a:t>
            </a: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). RETI not used in C Coding. (Fig: Interrupt and ISR Relation)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Reading a Book vs Interrupts in MCU</a:t>
            </a:r>
            <a:endParaRPr/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755" y="1442720"/>
            <a:ext cx="8591770" cy="432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4624912" y="1421242"/>
            <a:ext cx="4423840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CPU has to handle interrupts, resume its previous execution of programs </a:t>
            </a:r>
            <a:endParaRPr sz="2400"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Overhead required to handle the interrupt request can reduce the efficiency of the system</a:t>
            </a:r>
            <a:endParaRPr sz="2400"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400"/>
              <a:buChar char="▪"/>
            </a:pPr>
            <a:r>
              <a:rPr b="1" lang="en-US" sz="2400"/>
              <a:t>Nested interrupts</a:t>
            </a:r>
            <a:r>
              <a:rPr lang="en-US" sz="2400"/>
              <a:t> can occur when there is high levels of interrupt activity</a:t>
            </a:r>
            <a:endParaRPr sz="2400"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Priority inversion can occur when a low-priority task holds a resource needed by a higher-priority task</a:t>
            </a:r>
            <a:endParaRPr sz="2400"/>
          </a:p>
          <a:p>
            <a:pPr indent="-103626" lvl="0" marL="365751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38" name="Google Shape;138;p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Advantages - Disadvantages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0" y="1421242"/>
            <a:ext cx="462491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increases the efficiency of CPU.</a:t>
            </a:r>
            <a:endParaRPr/>
          </a:p>
          <a:p>
            <a:pPr indent="-256026" lvl="0" marL="365751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decreases the waiting time of CPU.</a:t>
            </a:r>
            <a:endParaRPr/>
          </a:p>
          <a:p>
            <a:pPr indent="-256026" lvl="0" marL="365751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Stops the wastage of instruction cycle.</a:t>
            </a:r>
            <a:endParaRPr/>
          </a:p>
          <a:p>
            <a:pPr indent="-256026" lvl="0" marL="365751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▪"/>
            </a:pPr>
            <a:r>
              <a:rPr b="1"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Enables multitasking</a:t>
            </a: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by allowing the CPU to quickly switch between different processes.</a:t>
            </a:r>
            <a:endParaRPr/>
          </a:p>
          <a:p>
            <a:pPr indent="-256026" lvl="0" marL="365751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Simplifies input/output (I/O) operations by allowing devices to communicate directly with the CPU.</a:t>
            </a:r>
            <a:endParaRPr/>
          </a:p>
          <a:p>
            <a:pPr indent="-256026" lvl="0" marL="365751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▪"/>
            </a:pPr>
            <a:r>
              <a:rPr b="1" lang="en-US" sz="22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The keyword to build RTOS</a:t>
            </a:r>
            <a:endParaRPr/>
          </a:p>
          <a:p>
            <a:pPr indent="-116326" lvl="0" marL="365751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None/>
            </a:pPr>
            <a:r>
              <a:t/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idx="1" type="body"/>
          </p:nvPr>
        </p:nvSpPr>
        <p:spPr>
          <a:xfrm>
            <a:off x="203200" y="1625600"/>
            <a:ext cx="8585200" cy="4460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Hardware interrupts: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b="1" lang="en-US"/>
              <a:t>Maskable</a:t>
            </a:r>
            <a:r>
              <a:rPr lang="en-US"/>
              <a:t>: Can be masked or disabled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b="1" lang="en-US"/>
              <a:t>Non-maskable</a:t>
            </a:r>
            <a:r>
              <a:rPr lang="en-US"/>
              <a:t>: Cannot be disabled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b="1" lang="en-US"/>
              <a:t>External</a:t>
            </a:r>
            <a:r>
              <a:rPr lang="en-US"/>
              <a:t> and </a:t>
            </a:r>
            <a:r>
              <a:rPr b="1" lang="en-US"/>
              <a:t>Internal</a:t>
            </a:r>
            <a:r>
              <a:rPr lang="en-US"/>
              <a:t> interrupts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Software interrupts: generally used when the situation requires stop processing and start all over: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Divide by zero or stack overflow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Generally, MPUs do not include software interrupts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Exeptions…</a:t>
            </a:r>
            <a:endParaRPr/>
          </a:p>
        </p:txBody>
      </p:sp>
      <p:sp>
        <p:nvSpPr>
          <p:cNvPr id="145" name="Google Shape;145;p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Types of Interrupts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idx="1" type="body"/>
          </p:nvPr>
        </p:nvSpPr>
        <p:spPr>
          <a:xfrm>
            <a:off x="133779" y="2661919"/>
            <a:ext cx="8776541" cy="400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Preemption</a:t>
            </a:r>
            <a:r>
              <a:rPr lang="en-US"/>
              <a:t>: The execution of an interrupt handler can be preempted by an exception having a higher priority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Tail-chaining</a:t>
            </a:r>
            <a:r>
              <a:rPr lang="en-US"/>
              <a:t>: When an interrupt is pending on completion of an exception handler. When the first interrupt complete its execution, the controller transfers immediately to the new execution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Multiple Interrupts (Priority)</a:t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853440" y="1950720"/>
            <a:ext cx="1046480" cy="56896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265680" y="1374397"/>
            <a:ext cx="914400" cy="42672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ISR1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293360" y="1367033"/>
            <a:ext cx="914400" cy="42672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ISR1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322320" y="1367033"/>
            <a:ext cx="1808480" cy="42672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ISR2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502400" y="1943356"/>
            <a:ext cx="1046480" cy="56896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919480" y="4084320"/>
            <a:ext cx="1046480" cy="56896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331720" y="3507997"/>
            <a:ext cx="1833880" cy="42672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ISR1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399280" y="3507997"/>
            <a:ext cx="1808480" cy="42672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ISR2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568440" y="4076956"/>
            <a:ext cx="1046480" cy="56896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type="ctrTitle"/>
          </p:nvPr>
        </p:nvSpPr>
        <p:spPr>
          <a:xfrm>
            <a:off x="-61278" y="917400"/>
            <a:ext cx="86508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Interrupts in STM32 Cortex M</a:t>
            </a:r>
            <a:endParaRPr/>
          </a:p>
        </p:txBody>
      </p:sp>
      <p:pic>
        <p:nvPicPr>
          <p:cNvPr descr="Exception and Interrupt - Code Inside Out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08648"/>
            <a:ext cx="4916622" cy="2199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www.codeinsideout.com/blog/stm32/exception/arm_int_exti.png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4399" y="4301708"/>
            <a:ext cx="1930401" cy="2388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>
            <p:ph idx="1" type="body"/>
          </p:nvPr>
        </p:nvSpPr>
        <p:spPr>
          <a:xfrm>
            <a:off x="38529" y="4968240"/>
            <a:ext cx="9010221" cy="1752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56025" lvl="0" marL="365751" rtl="0" algn="just"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b="1" lang="en-US"/>
              <a:t>Nested Vectored Interrupt Controller (NVIC): </a:t>
            </a:r>
            <a:r>
              <a:rPr lang="en-US"/>
              <a:t>provides implementation schemes for </a:t>
            </a:r>
            <a:r>
              <a:rPr b="1" lang="en-US"/>
              <a:t>handling interrupts </a:t>
            </a:r>
            <a:r>
              <a:rPr lang="en-US"/>
              <a:t>that occur when other interrupts are being executed or when the CPU is in the process of </a:t>
            </a:r>
            <a:r>
              <a:rPr b="1" lang="en-US"/>
              <a:t>restoring its previous state and resuming its suspended process</a:t>
            </a:r>
            <a:endParaRPr b="1"/>
          </a:p>
        </p:txBody>
      </p:sp>
      <p:sp>
        <p:nvSpPr>
          <p:cNvPr id="174" name="Google Shape;174;p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Interrupt handler in STM Cortex M</a:t>
            </a:r>
            <a:endParaRPr/>
          </a:p>
        </p:txBody>
      </p:sp>
      <p:pic>
        <p:nvPicPr>
          <p:cNvPr descr="Exception and Interrupt - Code Inside Out" id="175" name="Google Shape;1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499" y="1194328"/>
            <a:ext cx="7574280" cy="3387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>
            <p:ph idx="1" type="body"/>
          </p:nvPr>
        </p:nvSpPr>
        <p:spPr>
          <a:xfrm>
            <a:off x="38529" y="1283517"/>
            <a:ext cx="498051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Clock Security System (CSS)</a:t>
            </a:r>
            <a:r>
              <a:rPr lang="en-US"/>
              <a:t> interrupt is connected to </a:t>
            </a:r>
            <a:r>
              <a:rPr b="1" lang="en-US"/>
              <a:t>Non-Maskable Interrupt (NMI)</a:t>
            </a:r>
            <a:r>
              <a:rPr lang="en-US"/>
              <a:t> lines</a:t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Peripheral interrupts are connected to </a:t>
            </a:r>
            <a:r>
              <a:rPr b="1" lang="en-US"/>
              <a:t>Interrupt Requests (IRQ)</a:t>
            </a:r>
            <a:r>
              <a:rPr lang="en-US"/>
              <a:t> lines</a:t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GPIO interrupts are connected to an </a:t>
            </a:r>
            <a:r>
              <a:rPr b="1" lang="en-US"/>
              <a:t>External Interrupt/Event Controller (EXTI)</a:t>
            </a:r>
            <a:r>
              <a:rPr lang="en-US"/>
              <a:t> before connecting to the IRQ lines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Components of NVIC</a:t>
            </a:r>
            <a:endParaRPr/>
          </a:p>
        </p:txBody>
      </p:sp>
      <p:pic>
        <p:nvPicPr>
          <p:cNvPr descr="https://www.codeinsideout.com/blog/stm32/exception/arm_int_exti.png"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759" y="1806257"/>
            <a:ext cx="3214646" cy="397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Interrupt Request (IRQs) Table</a:t>
            </a:r>
            <a:endParaRPr/>
          </a:p>
        </p:txBody>
      </p:sp>
      <p:pic>
        <p:nvPicPr>
          <p:cNvPr descr="Interrupt based button read on STM32F103ZET6 board - Do It Easy With  ScienceProg" id="188" name="Google Shape;1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34" y="1326197"/>
            <a:ext cx="4963209" cy="519652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 txBox="1"/>
          <p:nvPr>
            <p:ph idx="1" type="body"/>
          </p:nvPr>
        </p:nvSpPr>
        <p:spPr>
          <a:xfrm>
            <a:off x="5480050" y="1273342"/>
            <a:ext cx="3663900" cy="54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243643" lvl="0" marL="365751" rtl="0" algn="just"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b="1" lang="en-US"/>
              <a:t>Reset: </a:t>
            </a:r>
            <a:r>
              <a:rPr lang="en-US"/>
              <a:t>It is a special kind of exception. When reset is activated, the CPU goes to a known state with all registers loaded with the predefined values. When the device is coming out of reset, the ARM loads the program counter from memory location at 0x000.0004. </a:t>
            </a:r>
            <a:r>
              <a:rPr b="1" lang="en-US"/>
              <a:t>Reset has the highest priority</a:t>
            </a:r>
            <a:endParaRPr/>
          </a:p>
          <a:p>
            <a:pPr indent="-140455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43643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b="1" lang="en-US"/>
              <a:t>NMI: </a:t>
            </a:r>
            <a:r>
              <a:rPr lang="en-US"/>
              <a:t>The non-maskable interrupt (NMI) has the second highest priority after Reset. It cannot be masked by software, for this reason, it is called non-maskable interrupt. Whenever it is activated, the CPU will go to address 0x0000.0008 to get the address of its interrupt service routine.</a:t>
            </a:r>
            <a:endParaRPr/>
          </a:p>
          <a:p>
            <a:pPr indent="-14045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Timer Interrupt</a:t>
            </a:r>
            <a:endParaRPr/>
          </a:p>
        </p:txBody>
      </p:sp>
      <p:pic>
        <p:nvPicPr>
          <p:cNvPr id="196" name="Google Shape;1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797" y="4388493"/>
            <a:ext cx="8484243" cy="2068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>
            <p:ph idx="1" type="body"/>
          </p:nvPr>
        </p:nvSpPr>
        <p:spPr>
          <a:xfrm>
            <a:off x="38529" y="4641449"/>
            <a:ext cx="8675519" cy="2078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 main program and a timer are asynchronous, which means the </a:t>
            </a:r>
            <a:r>
              <a:rPr b="1" lang="en-US"/>
              <a:t>timer operates independently of program flow</a:t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Main program running on the processor. A timer event occurs and triggers an interrupt. </a:t>
            </a:r>
            <a:endParaRPr b="1"/>
          </a:p>
        </p:txBody>
      </p:sp>
      <p:sp>
        <p:nvSpPr>
          <p:cNvPr id="202" name="Google Shape;202;p1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Timer Interrupt</a:t>
            </a:r>
            <a:endParaRPr/>
          </a:p>
        </p:txBody>
      </p:sp>
      <p:pic>
        <p:nvPicPr>
          <p:cNvPr descr="https://www.allaboutcircuits.com/uploads/articles/introduction-to-microcontroller-timers-periodic-timers_sc_aac_image2.jpg"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229" y="1224794"/>
            <a:ext cx="8340819" cy="3270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/>
          <p:nvPr>
            <p:ph idx="1" type="body"/>
          </p:nvPr>
        </p:nvSpPr>
        <p:spPr>
          <a:xfrm>
            <a:off x="38529" y="5671595"/>
            <a:ext cx="9010221" cy="104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HCLK is used for the timer oscillation</a:t>
            </a:r>
            <a:endParaRPr/>
          </a:p>
        </p:txBody>
      </p:sp>
      <p:sp>
        <p:nvSpPr>
          <p:cNvPr id="209" name="Google Shape;209;p1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Clock Configuration</a:t>
            </a:r>
            <a:endParaRPr/>
          </a:p>
        </p:txBody>
      </p:sp>
      <p:pic>
        <p:nvPicPr>
          <p:cNvPr id="210" name="Google Shape;2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952" y="1499108"/>
            <a:ext cx="7116911" cy="3898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Parameter Settings</a:t>
            </a:r>
            <a:endParaRPr/>
          </a:p>
        </p:txBody>
      </p:sp>
      <p:pic>
        <p:nvPicPr>
          <p:cNvPr id="216" name="Google Shape;2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224794"/>
            <a:ext cx="5278056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5"/>
          <p:cNvSpPr txBox="1"/>
          <p:nvPr>
            <p:ph idx="1" type="body"/>
          </p:nvPr>
        </p:nvSpPr>
        <p:spPr>
          <a:xfrm>
            <a:off x="5384801" y="1224794"/>
            <a:ext cx="3663950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109725" rtl="0" algn="just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The clock source is 8MHz, by setting the prescaller to 7999, the input clock source to the timer is </a:t>
            </a:r>
            <a:r>
              <a:rPr b="1" lang="en-US"/>
              <a:t>8MHz/(7999+1) = 1000Hz</a:t>
            </a:r>
            <a:endParaRPr/>
          </a:p>
          <a:p>
            <a:pPr indent="-115691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109725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/>
              <a:t>The interrupt is raised when the timer counter is counted from 0 to 9, meaning that the frequency is divided by 10, </a:t>
            </a:r>
            <a:r>
              <a:rPr b="1" lang="en-US"/>
              <a:t>which is 100Hz</a:t>
            </a:r>
            <a:r>
              <a:rPr lang="en-US"/>
              <a:t>.</a:t>
            </a:r>
            <a:endParaRPr/>
          </a:p>
          <a:p>
            <a:pPr indent="-115691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109725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/>
              <a:t>The frequency of the timer interrupt is 100Hz, meaning that the period is </a:t>
            </a:r>
            <a:r>
              <a:rPr b="1" lang="en-US"/>
              <a:t>1/100Hz = 10ms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NVIC Settings</a:t>
            </a:r>
            <a:endParaRPr/>
          </a:p>
        </p:txBody>
      </p:sp>
      <p:pic>
        <p:nvPicPr>
          <p:cNvPr id="223" name="Google Shape;2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421" y="1428049"/>
            <a:ext cx="8452094" cy="356572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 txBox="1"/>
          <p:nvPr>
            <p:ph idx="1" type="body"/>
          </p:nvPr>
        </p:nvSpPr>
        <p:spPr>
          <a:xfrm>
            <a:off x="127322" y="5197032"/>
            <a:ext cx="8921429" cy="146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725" rtl="0" algn="just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Timer is a </a:t>
            </a:r>
            <a:r>
              <a:rPr b="1" lang="en-US"/>
              <a:t>maskable interrupt</a:t>
            </a:r>
            <a:endParaRPr b="1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ISR Implementation</a:t>
            </a:r>
            <a:endParaRPr/>
          </a:p>
        </p:txBody>
      </p:sp>
      <p:pic>
        <p:nvPicPr>
          <p:cNvPr id="230" name="Google Shape;2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685" y="1901323"/>
            <a:ext cx="8611564" cy="3150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2014-07-29T03:47:45Z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