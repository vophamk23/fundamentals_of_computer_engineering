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9144000"/>
  <p:notesSz cx="7102475" cy="10233025"/>
  <p:embeddedFontLst>
    <p:embeddedFont>
      <p:font typeface="Tahoma"/>
      <p:regular r:id="rId21"/>
      <p:bold r:id="rId22"/>
    </p:embeddedFont>
    <p:embeddedFont>
      <p:font typeface="Century Gothic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7296">
          <p15:clr>
            <a:srgbClr val="A4A3A4"/>
          </p15:clr>
        </p15:guide>
        <p15:guide id="4" orient="horz" pos="4128">
          <p15:clr>
            <a:srgbClr val="A4A3A4"/>
          </p15:clr>
        </p15:guide>
        <p15:guide id="5" pos="2880">
          <p15:clr>
            <a:srgbClr val="A4A3A4"/>
          </p15:clr>
        </p15:guide>
        <p15:guide id="6" pos="5472">
          <p15:clr>
            <a:srgbClr val="A4A3A4"/>
          </p15:clr>
        </p15:guide>
      </p15:sldGuideLst>
    </p:ext>
    <p:ext uri="GoogleSlidesCustomDataVersion2">
      <go:slidesCustomData xmlns:go="http://customooxmlschemas.google.com/" r:id="rId27" roundtripDataSignature="AMtx7mgwaKDbx8alkPMJ2OQzcTs5Idru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7296"/>
        <p:guide pos="4128" orient="horz"/>
        <p:guide pos="2880"/>
        <p:guide pos="547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Tahoma-bold.fntdata"/><Relationship Id="rId21" Type="http://schemas.openxmlformats.org/officeDocument/2006/relationships/font" Target="fonts/Tahoma-regular.fntdata"/><Relationship Id="rId24" Type="http://schemas.openxmlformats.org/officeDocument/2006/relationships/font" Target="fonts/CenturyGothic-bold.fntdata"/><Relationship Id="rId23" Type="http://schemas.openxmlformats.org/officeDocument/2006/relationships/font" Target="fonts/CenturyGothic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CenturyGothic-boldItalic.fntdata"/><Relationship Id="rId25" Type="http://schemas.openxmlformats.org/officeDocument/2006/relationships/font" Target="fonts/CenturyGothic-italic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3092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1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1:notes"/>
          <p:cNvSpPr txBox="1"/>
          <p:nvPr>
            <p:ph idx="12" type="sldNum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a9bd2eda50_0_202:notes"/>
          <p:cNvSpPr/>
          <p:nvPr>
            <p:ph idx="2" type="sldImg"/>
          </p:nvPr>
        </p:nvSpPr>
        <p:spPr>
          <a:xfrm>
            <a:off x="1249363" y="1279525"/>
            <a:ext cx="4603800" cy="3452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g2a9bd2eda50_0_202:notes"/>
          <p:cNvSpPr txBox="1"/>
          <p:nvPr>
            <p:ph idx="1" type="body"/>
          </p:nvPr>
        </p:nvSpPr>
        <p:spPr>
          <a:xfrm>
            <a:off x="710248" y="4924643"/>
            <a:ext cx="5682000" cy="40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2a9bd2eda50_0_202:notes"/>
          <p:cNvSpPr txBox="1"/>
          <p:nvPr>
            <p:ph idx="12" type="sldNum"/>
          </p:nvPr>
        </p:nvSpPr>
        <p:spPr>
          <a:xfrm>
            <a:off x="4023092" y="9719598"/>
            <a:ext cx="3077700" cy="513300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10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11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a9bd2eda50_0_301:notes"/>
          <p:cNvSpPr/>
          <p:nvPr>
            <p:ph idx="2" type="sldImg"/>
          </p:nvPr>
        </p:nvSpPr>
        <p:spPr>
          <a:xfrm>
            <a:off x="1249363" y="1279525"/>
            <a:ext cx="4603800" cy="3452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2a9bd2eda50_0_301:notes"/>
          <p:cNvSpPr txBox="1"/>
          <p:nvPr>
            <p:ph idx="1" type="body"/>
          </p:nvPr>
        </p:nvSpPr>
        <p:spPr>
          <a:xfrm>
            <a:off x="710248" y="4924643"/>
            <a:ext cx="5682000" cy="40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2a9bd2eda50_0_301:notes"/>
          <p:cNvSpPr txBox="1"/>
          <p:nvPr>
            <p:ph idx="12" type="sldNum"/>
          </p:nvPr>
        </p:nvSpPr>
        <p:spPr>
          <a:xfrm>
            <a:off x="4023092" y="9719598"/>
            <a:ext cx="3077700" cy="513300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4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7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a9bd2eda50_0_306:notes"/>
          <p:cNvSpPr/>
          <p:nvPr>
            <p:ph idx="2" type="sldImg"/>
          </p:nvPr>
        </p:nvSpPr>
        <p:spPr>
          <a:xfrm>
            <a:off x="1249363" y="1279525"/>
            <a:ext cx="4603800" cy="3452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2a9bd2eda50_0_306:notes"/>
          <p:cNvSpPr txBox="1"/>
          <p:nvPr>
            <p:ph idx="1" type="body"/>
          </p:nvPr>
        </p:nvSpPr>
        <p:spPr>
          <a:xfrm>
            <a:off x="710248" y="4924643"/>
            <a:ext cx="5682000" cy="40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2a9bd2eda50_0_306:notes"/>
          <p:cNvSpPr txBox="1"/>
          <p:nvPr>
            <p:ph idx="12" type="sldNum"/>
          </p:nvPr>
        </p:nvSpPr>
        <p:spPr>
          <a:xfrm>
            <a:off x="4023092" y="9719598"/>
            <a:ext cx="3077700" cy="513300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a9bd2eda50_0_102:notes"/>
          <p:cNvSpPr txBox="1"/>
          <p:nvPr>
            <p:ph idx="1" type="body"/>
          </p:nvPr>
        </p:nvSpPr>
        <p:spPr>
          <a:xfrm>
            <a:off x="710248" y="4924643"/>
            <a:ext cx="5682000" cy="4029300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2a9bd2eda50_0_102:notes"/>
          <p:cNvSpPr/>
          <p:nvPr>
            <p:ph idx="2" type="sldImg"/>
          </p:nvPr>
        </p:nvSpPr>
        <p:spPr>
          <a:xfrm>
            <a:off x="1249363" y="1279525"/>
            <a:ext cx="4603800" cy="3452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a9bd2eda50_0_0:notes"/>
          <p:cNvSpPr txBox="1"/>
          <p:nvPr>
            <p:ph idx="1" type="body"/>
          </p:nvPr>
        </p:nvSpPr>
        <p:spPr>
          <a:xfrm>
            <a:off x="710248" y="4924643"/>
            <a:ext cx="5682000" cy="4029300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2a9bd2eda50_0_0:notes"/>
          <p:cNvSpPr/>
          <p:nvPr>
            <p:ph idx="2" type="sldImg"/>
          </p:nvPr>
        </p:nvSpPr>
        <p:spPr>
          <a:xfrm>
            <a:off x="1249363" y="1279525"/>
            <a:ext cx="4603800" cy="3452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a9bd2eda50_0_317:notes"/>
          <p:cNvSpPr/>
          <p:nvPr>
            <p:ph idx="2" type="sldImg"/>
          </p:nvPr>
        </p:nvSpPr>
        <p:spPr>
          <a:xfrm>
            <a:off x="1249363" y="1279525"/>
            <a:ext cx="4603800" cy="3452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g2a9bd2eda50_0_317:notes"/>
          <p:cNvSpPr txBox="1"/>
          <p:nvPr>
            <p:ph idx="1" type="body"/>
          </p:nvPr>
        </p:nvSpPr>
        <p:spPr>
          <a:xfrm>
            <a:off x="710248" y="4924643"/>
            <a:ext cx="5682000" cy="40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2a9bd2eda50_0_317:notes"/>
          <p:cNvSpPr txBox="1"/>
          <p:nvPr>
            <p:ph idx="12" type="sldNum"/>
          </p:nvPr>
        </p:nvSpPr>
        <p:spPr>
          <a:xfrm>
            <a:off x="4023092" y="9719598"/>
            <a:ext cx="3077700" cy="513300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a9bd2eda50_0_330:notes"/>
          <p:cNvSpPr txBox="1"/>
          <p:nvPr>
            <p:ph idx="1" type="body"/>
          </p:nvPr>
        </p:nvSpPr>
        <p:spPr>
          <a:xfrm>
            <a:off x="710248" y="4924643"/>
            <a:ext cx="5682000" cy="4029300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2a9bd2eda50_0_330:notes"/>
          <p:cNvSpPr/>
          <p:nvPr>
            <p:ph idx="2" type="sldImg"/>
          </p:nvPr>
        </p:nvSpPr>
        <p:spPr>
          <a:xfrm>
            <a:off x="1249363" y="1279525"/>
            <a:ext cx="4603800" cy="3452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/>
          <p:nvPr/>
        </p:nvSpPr>
        <p:spPr>
          <a:xfrm flipH="1" rot="10800000">
            <a:off x="5410184" y="3810004"/>
            <a:ext cx="3733819" cy="910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6"/>
          <p:cNvSpPr/>
          <p:nvPr/>
        </p:nvSpPr>
        <p:spPr>
          <a:xfrm flipH="1" rot="10800000">
            <a:off x="5410202" y="3897010"/>
            <a:ext cx="3733801" cy="192024"/>
          </a:xfrm>
          <a:prstGeom prst="rect">
            <a:avLst/>
          </a:prstGeom>
          <a:solidFill>
            <a:schemeClr val="accent2">
              <a:alpha val="4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6"/>
          <p:cNvSpPr/>
          <p:nvPr/>
        </p:nvSpPr>
        <p:spPr>
          <a:xfrm flipH="1" rot="10800000">
            <a:off x="5410202" y="4115167"/>
            <a:ext cx="3733801" cy="9144"/>
          </a:xfrm>
          <a:prstGeom prst="rect">
            <a:avLst/>
          </a:prstGeom>
          <a:solidFill>
            <a:schemeClr val="accent2">
              <a:alpha val="6431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6"/>
          <p:cNvSpPr/>
          <p:nvPr/>
        </p:nvSpPr>
        <p:spPr>
          <a:xfrm flipH="1" rot="10800000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6"/>
          <p:cNvSpPr/>
          <p:nvPr/>
        </p:nvSpPr>
        <p:spPr>
          <a:xfrm flipH="1" rot="10800000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431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6"/>
          <p:cNvSpPr/>
          <p:nvPr/>
        </p:nvSpPr>
        <p:spPr>
          <a:xfrm>
            <a:off x="5410200" y="3962400"/>
            <a:ext cx="3063240" cy="2743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6"/>
          <p:cNvSpPr/>
          <p:nvPr/>
        </p:nvSpPr>
        <p:spPr>
          <a:xfrm>
            <a:off x="7376507" y="4060983"/>
            <a:ext cx="1600200" cy="3657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4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6"/>
          <p:cNvSpPr/>
          <p:nvPr/>
        </p:nvSpPr>
        <p:spPr>
          <a:xfrm>
            <a:off x="2" y="3675531"/>
            <a:ext cx="9144001" cy="1406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6"/>
          <p:cNvSpPr/>
          <p:nvPr/>
        </p:nvSpPr>
        <p:spPr>
          <a:xfrm flipH="1" rot="10800000">
            <a:off x="6414051" y="3643090"/>
            <a:ext cx="2729950" cy="248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6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6"/>
          <p:cNvSpPr txBox="1"/>
          <p:nvPr>
            <p:ph idx="1" type="subTitle"/>
          </p:nvPr>
        </p:nvSpPr>
        <p:spPr>
          <a:xfrm>
            <a:off x="449495" y="3889662"/>
            <a:ext cx="49530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1" name="Google Shape;41;p16"/>
          <p:cNvSpPr txBox="1"/>
          <p:nvPr>
            <p:ph type="ctrTitle"/>
          </p:nvPr>
        </p:nvSpPr>
        <p:spPr>
          <a:xfrm>
            <a:off x="426378" y="2401891"/>
            <a:ext cx="8458200" cy="10813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Impact"/>
              <a:buNone/>
              <a:defRPr sz="44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7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37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81000" lvl="1" marL="91440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Char char="▫"/>
              <a:def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810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83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200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  <a:defRPr b="1">
                <a:solidFill>
                  <a:srgbClr val="00206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7"/>
          <p:cNvSpPr txBox="1"/>
          <p:nvPr/>
        </p:nvSpPr>
        <p:spPr>
          <a:xfrm>
            <a:off x="8810625" y="6591300"/>
            <a:ext cx="35137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8A5E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1" i="0" sz="1200" u="none" cap="none" strike="noStrike">
              <a:solidFill>
                <a:srgbClr val="08A5E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8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18"/>
          <p:cNvSpPr txBox="1"/>
          <p:nvPr>
            <p:ph idx="1" type="body"/>
          </p:nvPr>
        </p:nvSpPr>
        <p:spPr>
          <a:xfrm>
            <a:off x="722313" y="3367088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None/>
              <a:defRPr b="0" sz="21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type="title"/>
          </p:nvPr>
        </p:nvSpPr>
        <p:spPr>
          <a:xfrm>
            <a:off x="722313" y="1981204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Calibri"/>
              <a:buNone/>
              <a:defRPr b="1" sz="430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9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9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9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4648200" y="2249428"/>
            <a:ext cx="4038600" cy="4341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92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900"/>
              <a:buChar char="▫"/>
              <a:defRPr sz="1900"/>
            </a:lvl2pPr>
            <a:lvl3pPr indent="-3429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2249428"/>
            <a:ext cx="4038600" cy="4341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92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900"/>
              <a:buChar char="▫"/>
              <a:defRPr sz="1900"/>
            </a:lvl2pPr>
            <a:lvl3pPr indent="-3429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8" name="Google Shape;58;p19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0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0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20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" type="body"/>
          </p:nvPr>
        </p:nvSpPr>
        <p:spPr>
          <a:xfrm>
            <a:off x="4718306" y="2708519"/>
            <a:ext cx="4041775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55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▫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2" type="body"/>
          </p:nvPr>
        </p:nvSpPr>
        <p:spPr>
          <a:xfrm>
            <a:off x="4721227" y="2244970"/>
            <a:ext cx="4041775" cy="457200"/>
          </a:xfrm>
          <a:prstGeom prst="rect">
            <a:avLst/>
          </a:prstGeom>
          <a:solidFill>
            <a:srgbClr val="9ED47A">
              <a:alpha val="24313"/>
            </a:srgbClr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900"/>
              <a:buNone/>
              <a:defRPr b="1" sz="1900">
                <a:solidFill>
                  <a:srgbClr val="41414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5" name="Google Shape;65;p20"/>
          <p:cNvSpPr txBox="1"/>
          <p:nvPr>
            <p:ph idx="3" type="body"/>
          </p:nvPr>
        </p:nvSpPr>
        <p:spPr>
          <a:xfrm>
            <a:off x="381000" y="2708519"/>
            <a:ext cx="4041648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55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▫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4" type="body"/>
          </p:nvPr>
        </p:nvSpPr>
        <p:spPr>
          <a:xfrm>
            <a:off x="381000" y="2244970"/>
            <a:ext cx="4041648" cy="457200"/>
          </a:xfrm>
          <a:prstGeom prst="rect">
            <a:avLst/>
          </a:prstGeom>
          <a:solidFill>
            <a:srgbClr val="9ED47A">
              <a:alpha val="24313"/>
            </a:srgbClr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900"/>
              <a:buNone/>
              <a:defRPr b="1" sz="1900">
                <a:solidFill>
                  <a:srgbClr val="41414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type="title"/>
          </p:nvPr>
        </p:nvSpPr>
        <p:spPr>
          <a:xfrm>
            <a:off x="381000" y="1143000"/>
            <a:ext cx="8382000" cy="1069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b="0" i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idx="10" type="dt"/>
          </p:nvPr>
        </p:nvSpPr>
        <p:spPr>
          <a:xfrm>
            <a:off x="6583680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21"/>
          <p:cNvSpPr txBox="1"/>
          <p:nvPr>
            <p:ph type="title"/>
          </p:nvPr>
        </p:nvSpPr>
        <p:spPr>
          <a:xfrm>
            <a:off x="457200" y="1143000"/>
            <a:ext cx="8229600" cy="1069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sz="4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2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2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3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3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" name="Google Shape;81;p23"/>
          <p:cNvSpPr txBox="1"/>
          <p:nvPr>
            <p:ph idx="1" type="body"/>
          </p:nvPr>
        </p:nvSpPr>
        <p:spPr>
          <a:xfrm>
            <a:off x="152400" y="776290"/>
            <a:ext cx="5102352" cy="58050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Char char="▫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Char char="●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●"/>
              <a:defRPr sz="2000"/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2" name="Google Shape;82;p23"/>
          <p:cNvSpPr txBox="1"/>
          <p:nvPr>
            <p:ph idx="2" type="body"/>
          </p:nvPr>
        </p:nvSpPr>
        <p:spPr>
          <a:xfrm>
            <a:off x="5353496" y="2010730"/>
            <a:ext cx="3383280" cy="458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3" name="Google Shape;83;p23"/>
          <p:cNvSpPr txBox="1"/>
          <p:nvPr>
            <p:ph type="title"/>
          </p:nvPr>
        </p:nvSpPr>
        <p:spPr>
          <a:xfrm>
            <a:off x="5353496" y="1101970"/>
            <a:ext cx="3383280" cy="8778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  <a:defRPr b="1"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4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4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4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Google Shape;88;p24"/>
          <p:cNvSpPr/>
          <p:nvPr>
            <p:ph idx="2" type="pic"/>
          </p:nvPr>
        </p:nvSpPr>
        <p:spPr>
          <a:xfrm>
            <a:off x="403671" y="1143000"/>
            <a:ext cx="4572000" cy="4572000"/>
          </a:xfrm>
          <a:prstGeom prst="rect">
            <a:avLst/>
          </a:prstGeom>
          <a:solidFill>
            <a:srgbClr val="EAEAEA"/>
          </a:solidFill>
          <a:ln cap="flat" cmpd="sng" w="508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tl" dir="4800000" dist="31750">
              <a:srgbClr val="000000">
                <a:alpha val="24313"/>
              </a:srgbClr>
            </a:outerShdw>
          </a:effectLst>
        </p:spPr>
      </p:sp>
      <p:sp>
        <p:nvSpPr>
          <p:cNvPr id="89" name="Google Shape;89;p24"/>
          <p:cNvSpPr txBox="1"/>
          <p:nvPr>
            <p:ph idx="1" type="body"/>
          </p:nvPr>
        </p:nvSpPr>
        <p:spPr>
          <a:xfrm>
            <a:off x="6088443" y="3274312"/>
            <a:ext cx="2590800" cy="25164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Calibri"/>
              <a:buNone/>
              <a:defRPr sz="13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Font typeface="Calibri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Calibri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Font typeface="Calibri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Font typeface="Calibri"/>
              <a:buNone/>
              <a:defRPr sz="900"/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0" name="Google Shape;90;p24"/>
          <p:cNvSpPr txBox="1"/>
          <p:nvPr>
            <p:ph type="title"/>
          </p:nvPr>
        </p:nvSpPr>
        <p:spPr>
          <a:xfrm rot="-5400000">
            <a:off x="3393019" y="3156579"/>
            <a:ext cx="4681637" cy="5868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5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5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5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p25"/>
          <p:cNvSpPr txBox="1"/>
          <p:nvPr>
            <p:ph idx="1" type="body"/>
          </p:nvPr>
        </p:nvSpPr>
        <p:spPr>
          <a:xfrm rot="5400000">
            <a:off x="2409444" y="297180"/>
            <a:ext cx="432511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2pPr>
            <a:lvl3pPr indent="-3429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6" name="Google Shape;96;p25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6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6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6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26"/>
          <p:cNvSpPr txBox="1"/>
          <p:nvPr>
            <p:ph idx="1" type="body"/>
          </p:nvPr>
        </p:nvSpPr>
        <p:spPr>
          <a:xfrm rot="5400000">
            <a:off x="857250" y="742950"/>
            <a:ext cx="5448300" cy="6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2pPr>
            <a:lvl3pPr indent="-3429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02" name="Google Shape;102;p26"/>
          <p:cNvSpPr txBox="1"/>
          <p:nvPr>
            <p:ph type="title"/>
          </p:nvPr>
        </p:nvSpPr>
        <p:spPr>
          <a:xfrm rot="5400000">
            <a:off x="5010150" y="2914650"/>
            <a:ext cx="54483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/>
          <p:nvPr/>
        </p:nvSpPr>
        <p:spPr>
          <a:xfrm>
            <a:off x="1" y="366822"/>
            <a:ext cx="9144000" cy="84407"/>
          </a:xfrm>
          <a:prstGeom prst="rect">
            <a:avLst/>
          </a:prstGeom>
          <a:solidFill>
            <a:schemeClr val="accent2">
              <a:alpha val="4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5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5"/>
          <p:cNvSpPr/>
          <p:nvPr/>
        </p:nvSpPr>
        <p:spPr>
          <a:xfrm>
            <a:off x="2" y="308280"/>
            <a:ext cx="9144001" cy="914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5"/>
          <p:cNvSpPr/>
          <p:nvPr/>
        </p:nvSpPr>
        <p:spPr>
          <a:xfrm flipH="1" rot="10800000">
            <a:off x="5410184" y="360250"/>
            <a:ext cx="3733819" cy="910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5"/>
          <p:cNvSpPr/>
          <p:nvPr/>
        </p:nvSpPr>
        <p:spPr>
          <a:xfrm flipH="1" rot="10800000">
            <a:off x="5410202" y="440116"/>
            <a:ext cx="3733801" cy="180035"/>
          </a:xfrm>
          <a:prstGeom prst="rect">
            <a:avLst/>
          </a:prstGeom>
          <a:solidFill>
            <a:schemeClr val="accent2">
              <a:alpha val="4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5"/>
          <p:cNvSpPr/>
          <p:nvPr/>
        </p:nvSpPr>
        <p:spPr>
          <a:xfrm>
            <a:off x="5407339" y="497504"/>
            <a:ext cx="3063240" cy="2743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5"/>
          <p:cNvSpPr/>
          <p:nvPr/>
        </p:nvSpPr>
        <p:spPr>
          <a:xfrm>
            <a:off x="7373646" y="588943"/>
            <a:ext cx="1600200" cy="3657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5"/>
          <p:cNvSpPr/>
          <p:nvPr/>
        </p:nvSpPr>
        <p:spPr>
          <a:xfrm>
            <a:off x="9084967" y="-2001"/>
            <a:ext cx="57626" cy="621792"/>
          </a:xfrm>
          <a:prstGeom prst="rect">
            <a:avLst/>
          </a:prstGeom>
          <a:solidFill>
            <a:srgbClr val="FFFFFF">
              <a:alpha val="6431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5"/>
          <p:cNvSpPr/>
          <p:nvPr/>
        </p:nvSpPr>
        <p:spPr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431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5"/>
          <p:cNvSpPr/>
          <p:nvPr/>
        </p:nvSpPr>
        <p:spPr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5"/>
          <p:cNvSpPr/>
          <p:nvPr/>
        </p:nvSpPr>
        <p:spPr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5"/>
          <p:cNvSpPr/>
          <p:nvPr/>
        </p:nvSpPr>
        <p:spPr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5"/>
          <p:cNvSpPr/>
          <p:nvPr/>
        </p:nvSpPr>
        <p:spPr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2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5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15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15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5"/>
          <p:cNvSpPr txBox="1"/>
          <p:nvPr>
            <p:ph idx="1" type="body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Georgia"/>
              <a:buChar char="•"/>
              <a:defRPr b="0" i="0" sz="2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937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Georgia"/>
              <a:buChar char="▫"/>
              <a:defRPr b="0" i="0" sz="2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683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15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4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en.wikipedia.org/wiki/Open_collector" TargetMode="External"/><Relationship Id="rId4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"/>
          <p:cNvSpPr txBox="1"/>
          <p:nvPr>
            <p:ph type="ctrTitle"/>
          </p:nvPr>
        </p:nvSpPr>
        <p:spPr>
          <a:xfrm>
            <a:off x="233797" y="971550"/>
            <a:ext cx="8650783" cy="25116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400"/>
              <a:buFont typeface="Impact"/>
              <a:buNone/>
            </a:pPr>
            <a:r>
              <a:rPr lang="en-US">
                <a:solidFill>
                  <a:srgbClr val="FFFF00"/>
                </a:solidFill>
              </a:rPr>
              <a:t>Section1: </a:t>
            </a:r>
            <a:r>
              <a:rPr lang="en-US">
                <a:solidFill>
                  <a:srgbClr val="FFFF00"/>
                </a:solidFill>
              </a:rPr>
              <a:t> GPIO - PWM - ADC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a9bd2eda50_0_202"/>
          <p:cNvSpPr txBox="1"/>
          <p:nvPr>
            <p:ph type="ctrTitle"/>
          </p:nvPr>
        </p:nvSpPr>
        <p:spPr>
          <a:xfrm>
            <a:off x="233797" y="971550"/>
            <a:ext cx="8650800" cy="25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400"/>
              <a:buFont typeface="Impact"/>
              <a:buNone/>
            </a:pPr>
            <a:r>
              <a:rPr lang="en-US">
                <a:solidFill>
                  <a:srgbClr val="FFFF00"/>
                </a:solidFill>
              </a:rPr>
              <a:t>GPIO OUTPUT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"/>
          <p:cNvSpPr txBox="1"/>
          <p:nvPr>
            <p:ph idx="1" type="body"/>
          </p:nvPr>
        </p:nvSpPr>
        <p:spPr>
          <a:xfrm>
            <a:off x="5428859" y="822960"/>
            <a:ext cx="3619891" cy="5897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b="1" lang="en-US" sz="2400"/>
              <a:t>T1</a:t>
            </a:r>
            <a:r>
              <a:rPr lang="en-US" sz="2400"/>
              <a:t> is the PMOS </a:t>
            </a:r>
            <a:endParaRPr sz="2400"/>
          </a:p>
          <a:p>
            <a:pPr indent="0" lvl="0" marL="109725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and </a:t>
            </a:r>
            <a:r>
              <a:rPr b="1" lang="en-US" sz="2400"/>
              <a:t>T2</a:t>
            </a:r>
            <a:r>
              <a:rPr lang="en-US" sz="2400"/>
              <a:t> is the NMOS.</a:t>
            </a:r>
            <a:endParaRPr/>
          </a:p>
          <a:p>
            <a:pPr indent="-1036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t/>
            </a:r>
            <a:endParaRPr sz="2400"/>
          </a:p>
          <a:p>
            <a:pPr indent="-2560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/>
              <a:t>When we write </a:t>
            </a:r>
            <a:r>
              <a:rPr b="1" lang="en-US" sz="2400"/>
              <a:t>1</a:t>
            </a:r>
            <a:r>
              <a:rPr lang="en-US" sz="2400"/>
              <a:t> from our code, the first inverter will make it as </a:t>
            </a:r>
            <a:r>
              <a:rPr b="1" lang="en-US" sz="2400"/>
              <a:t>0</a:t>
            </a:r>
            <a:endParaRPr/>
          </a:p>
          <a:p>
            <a:pPr indent="0" lvl="0" marL="109725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 sz="2400"/>
          </a:p>
          <a:p>
            <a:pPr indent="-2560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b="1" lang="en-US" sz="2400"/>
              <a:t>T1</a:t>
            </a:r>
            <a:r>
              <a:rPr lang="en-US" sz="2400"/>
              <a:t> will be activated and </a:t>
            </a:r>
            <a:r>
              <a:rPr b="1" lang="en-US" sz="2400"/>
              <a:t>T2</a:t>
            </a:r>
            <a:r>
              <a:rPr lang="en-US" sz="2400"/>
              <a:t> will be deactivated</a:t>
            </a:r>
            <a:endParaRPr/>
          </a:p>
          <a:p>
            <a:pPr indent="0" lvl="0" marL="109725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2560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b="1" lang="en-US" sz="2400"/>
              <a:t>T1</a:t>
            </a:r>
            <a:r>
              <a:rPr lang="en-US" sz="2400"/>
              <a:t> will take the </a:t>
            </a:r>
            <a:r>
              <a:rPr b="1" lang="en-US" sz="2400"/>
              <a:t>Vcc</a:t>
            </a:r>
            <a:r>
              <a:rPr lang="en-US" sz="2400"/>
              <a:t> and give it to the GPIO pin</a:t>
            </a:r>
            <a:endParaRPr sz="2400"/>
          </a:p>
        </p:txBody>
      </p:sp>
      <p:sp>
        <p:nvSpPr>
          <p:cNvPr id="120" name="Google Shape;120;p3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GPIO Output</a:t>
            </a:r>
            <a:endParaRPr/>
          </a:p>
        </p:txBody>
      </p:sp>
      <p:pic>
        <p:nvPicPr>
          <p:cNvPr descr="Output Buffer" id="121" name="Google Shape;12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737" y="1224794"/>
            <a:ext cx="2857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PIO High" id="122" name="Google Shape;12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7947" y="4685735"/>
            <a:ext cx="2034540" cy="20345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PIO Low" id="123" name="Google Shape;12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46191" y="4548010"/>
            <a:ext cx="2172265" cy="217226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3"/>
          <p:cNvSpPr txBox="1"/>
          <p:nvPr/>
        </p:nvSpPr>
        <p:spPr>
          <a:xfrm>
            <a:off x="44988" y="4399093"/>
            <a:ext cx="13244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Ouput HIGH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2635788" y="4399093"/>
            <a:ext cx="12930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This state is the default state of the GPIO output mode. The pin can “push” the signal high or “pull” it low using the </a:t>
            </a:r>
            <a:r>
              <a:rPr b="1" lang="en-US"/>
              <a:t>PMOS</a:t>
            </a:r>
            <a:r>
              <a:rPr lang="en-US"/>
              <a:t> transistor or </a:t>
            </a:r>
            <a:r>
              <a:rPr b="1" lang="en-US"/>
              <a:t>NMOS</a:t>
            </a:r>
            <a:r>
              <a:rPr lang="en-US"/>
              <a:t> transistor. </a:t>
            </a:r>
            <a:endParaRPr/>
          </a:p>
          <a:p>
            <a:pPr indent="-909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2560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There is no need for pull-up or pull-down resistors as the PMOS and NMOS transistors do that job. </a:t>
            </a:r>
            <a:endParaRPr/>
          </a:p>
        </p:txBody>
      </p:sp>
      <p:sp>
        <p:nvSpPr>
          <p:cNvPr id="131" name="Google Shape;131;p10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Push-pull</a:t>
            </a:r>
            <a:endParaRPr/>
          </a:p>
        </p:txBody>
      </p:sp>
      <p:pic>
        <p:nvPicPr>
          <p:cNvPr descr="GPIO High" id="132" name="Google Shape;13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5888" y="4053344"/>
            <a:ext cx="2728085" cy="27280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PIO Low" id="133" name="Google Shape;13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7164" y="4001896"/>
            <a:ext cx="2668395" cy="2668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 txBox="1"/>
          <p:nvPr>
            <p:ph idx="1" type="body"/>
          </p:nvPr>
        </p:nvSpPr>
        <p:spPr>
          <a:xfrm>
            <a:off x="2939754" y="1556981"/>
            <a:ext cx="6108997" cy="61940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256026" lvl="0" marL="365751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▪"/>
            </a:pPr>
            <a:r>
              <a:rPr lang="en-US"/>
              <a:t>In GPIO output mode, the output buffer is formed using the PMOS and NMOS transistors. If you remove the PMOS transistor, then it will be an open drain output mode. </a:t>
            </a:r>
            <a:endParaRPr/>
          </a:p>
          <a:p>
            <a:pPr indent="-152838" lvl="0" marL="365751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-256026" lvl="0" marL="365751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00000"/>
              <a:buChar char="▪"/>
            </a:pPr>
            <a:r>
              <a:rPr lang="en-US"/>
              <a:t>The name comes from the fact that the MOSFET’s drain isn’t internally connected to anything. If you use BJT instead of MOSFET, then this is called an </a:t>
            </a:r>
            <a:r>
              <a:rPr b="1" lang="en-US" u="sng">
                <a:solidFill>
                  <a:schemeClr val="hlink"/>
                </a:solidFill>
                <a:hlinkClick r:id="rId3"/>
              </a:rPr>
              <a:t>Open collector</a:t>
            </a:r>
            <a:endParaRPr/>
          </a:p>
          <a:p>
            <a:pPr indent="0" lvl="0" marL="10972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-256026" lvl="0" marL="365751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00000"/>
              <a:buChar char="▪"/>
            </a:pPr>
            <a:r>
              <a:rPr lang="en-US"/>
              <a:t>When you make the NMOS to high, then it will supply a GND. The GPIO pin will be Low. </a:t>
            </a:r>
            <a:endParaRPr/>
          </a:p>
          <a:p>
            <a:pPr indent="-152838" lvl="0" marL="365751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-256026" lvl="0" marL="365751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00000"/>
              <a:buChar char="▪"/>
            </a:pPr>
            <a:r>
              <a:rPr lang="en-US"/>
              <a:t>When you turn off the NMOS, the GPIO will not be connected to either Vcc or GND. It will be in a floating state. So, the output will be either </a:t>
            </a:r>
            <a:r>
              <a:rPr b="1" lang="en-US"/>
              <a:t>Low</a:t>
            </a:r>
            <a:r>
              <a:rPr lang="en-US"/>
              <a:t> or </a:t>
            </a:r>
            <a:r>
              <a:rPr b="1" lang="en-US"/>
              <a:t>high impedance (floating)</a:t>
            </a:r>
            <a:r>
              <a:rPr lang="en-US"/>
              <a:t>. It can pull the pin towards the ground, but it cannot drive it high. </a:t>
            </a:r>
            <a:endParaRPr/>
          </a:p>
          <a:p>
            <a:pPr indent="-152838" lvl="0" marL="365751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-256026" lvl="0" marL="365751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00000"/>
              <a:buChar char="▪"/>
            </a:pPr>
            <a:r>
              <a:rPr lang="en-US"/>
              <a:t>Open drain outputs are most commonly used in communication interfaces where multiple devices are connected on the same line (e.g. I2C, One-Wire, etc.). When all of the outputs of the devices connected to the line are in the Hi-Z state, the line is driven to a default logic 1 level by a pull-up. Any device can pull the line to logic 0 using its open drain ouput and all devices can see this level.</a:t>
            </a:r>
            <a:endParaRPr/>
          </a:p>
        </p:txBody>
      </p:sp>
      <p:sp>
        <p:nvSpPr>
          <p:cNvPr id="139" name="Google Shape;139;p11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Open-Drain</a:t>
            </a:r>
            <a:endParaRPr/>
          </a:p>
        </p:txBody>
      </p:sp>
      <p:pic>
        <p:nvPicPr>
          <p:cNvPr descr="Open drain gpio" id="140" name="Google Shape;140;p11"/>
          <p:cNvPicPr preferRelativeResize="0"/>
          <p:nvPr/>
        </p:nvPicPr>
        <p:blipFill rotWithShape="1">
          <a:blip r:embed="rId4">
            <a:alphaModFix/>
          </a:blip>
          <a:srcRect b="0" l="0" r="53306" t="0"/>
          <a:stretch/>
        </p:blipFill>
        <p:spPr>
          <a:xfrm>
            <a:off x="345641" y="1639117"/>
            <a:ext cx="2320647" cy="23004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pen drain gpio" id="141" name="Google Shape;141;p11"/>
          <p:cNvPicPr preferRelativeResize="0"/>
          <p:nvPr/>
        </p:nvPicPr>
        <p:blipFill rotWithShape="1">
          <a:blip r:embed="rId4">
            <a:alphaModFix/>
          </a:blip>
          <a:srcRect b="0" l="53429" r="0" t="0"/>
          <a:stretch/>
        </p:blipFill>
        <p:spPr>
          <a:xfrm>
            <a:off x="351803" y="4380542"/>
            <a:ext cx="2314485" cy="2300494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1"/>
          <p:cNvSpPr/>
          <p:nvPr/>
        </p:nvSpPr>
        <p:spPr>
          <a:xfrm>
            <a:off x="1263648" y="3929192"/>
            <a:ext cx="484632" cy="452927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6F942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a9bd2eda50_0_301"/>
          <p:cNvSpPr txBox="1"/>
          <p:nvPr>
            <p:ph type="ctrTitle"/>
          </p:nvPr>
        </p:nvSpPr>
        <p:spPr>
          <a:xfrm>
            <a:off x="233797" y="971550"/>
            <a:ext cx="8650800" cy="25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400"/>
              <a:buFont typeface="Impact"/>
              <a:buNone/>
            </a:pPr>
            <a:r>
              <a:rPr lang="en-US">
                <a:solidFill>
                  <a:srgbClr val="FFFF00"/>
                </a:solidFill>
              </a:rPr>
              <a:t>GPIO INPUT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"/>
          <p:cNvSpPr txBox="1"/>
          <p:nvPr>
            <p:ph idx="1" type="body"/>
          </p:nvPr>
        </p:nvSpPr>
        <p:spPr>
          <a:xfrm>
            <a:off x="5227320" y="1283517"/>
            <a:ext cx="3821430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256025" lvl="0" marL="36575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When input GPIO = </a:t>
            </a:r>
            <a:r>
              <a:rPr b="1" lang="en-US"/>
              <a:t>1</a:t>
            </a:r>
            <a:r>
              <a:rPr lang="en-US"/>
              <a:t>, the inverter makes it as </a:t>
            </a:r>
            <a:r>
              <a:rPr b="1" lang="en-US"/>
              <a:t>0</a:t>
            </a:r>
            <a:endParaRPr/>
          </a:p>
          <a:p>
            <a:pPr indent="-115691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None/>
            </a:pPr>
            <a:r>
              <a:t/>
            </a:r>
            <a:endParaRPr b="1"/>
          </a:p>
          <a:p>
            <a:pPr indent="-256025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b="1" lang="en-US"/>
              <a:t>PMOS</a:t>
            </a:r>
            <a:r>
              <a:rPr lang="en-US"/>
              <a:t> T1 is activated and the </a:t>
            </a:r>
            <a:r>
              <a:rPr b="1" lang="en-US"/>
              <a:t>NMOS</a:t>
            </a:r>
            <a:r>
              <a:rPr lang="en-US"/>
              <a:t> T2 is deactivated</a:t>
            </a:r>
            <a:endParaRPr/>
          </a:p>
          <a:p>
            <a:pPr indent="-115691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None/>
            </a:pPr>
            <a:r>
              <a:t/>
            </a:r>
            <a:endParaRPr/>
          </a:p>
          <a:p>
            <a:pPr indent="-256025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b="1" lang="en-US"/>
              <a:t>T1</a:t>
            </a:r>
            <a:r>
              <a:rPr lang="en-US"/>
              <a:t> will take the </a:t>
            </a:r>
            <a:r>
              <a:rPr b="1" lang="en-US"/>
              <a:t>Vcc </a:t>
            </a:r>
            <a:r>
              <a:rPr lang="en-US"/>
              <a:t>and give it to the processor 🡪 get </a:t>
            </a:r>
            <a:r>
              <a:rPr b="1" lang="en-US"/>
              <a:t>1</a:t>
            </a:r>
            <a:r>
              <a:rPr lang="en-US"/>
              <a:t> in the software program</a:t>
            </a:r>
            <a:endParaRPr/>
          </a:p>
          <a:p>
            <a:pPr indent="-115691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None/>
            </a:pPr>
            <a:r>
              <a:t/>
            </a:r>
            <a:endParaRPr/>
          </a:p>
          <a:p>
            <a:pPr indent="-115691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None/>
            </a:pPr>
            <a:r>
              <a:t/>
            </a:r>
            <a:endParaRPr/>
          </a:p>
          <a:p>
            <a:pPr indent="-256025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Opposite behaviors occur when GPIO pin = </a:t>
            </a:r>
            <a:r>
              <a:rPr b="1" lang="en-US"/>
              <a:t>0</a:t>
            </a:r>
            <a:endParaRPr b="1"/>
          </a:p>
        </p:txBody>
      </p:sp>
      <p:sp>
        <p:nvSpPr>
          <p:cNvPr id="154" name="Google Shape;154;p4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GPIO Input</a:t>
            </a:r>
            <a:endParaRPr/>
          </a:p>
        </p:txBody>
      </p:sp>
      <p:pic>
        <p:nvPicPr>
          <p:cNvPr descr="GPIO Input Buffer" id="155" name="Google Shape;155;p4"/>
          <p:cNvPicPr preferRelativeResize="0"/>
          <p:nvPr/>
        </p:nvPicPr>
        <p:blipFill rotWithShape="1">
          <a:blip r:embed="rId3">
            <a:alphaModFix/>
          </a:blip>
          <a:srcRect b="10931" l="0" r="0" t="0"/>
          <a:stretch/>
        </p:blipFill>
        <p:spPr>
          <a:xfrm>
            <a:off x="1104109" y="1224794"/>
            <a:ext cx="2466975" cy="2545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put buffer High and Low" id="156" name="Google Shape;15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529" y="4051990"/>
            <a:ext cx="5005865" cy="2546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"/>
          <p:cNvSpPr txBox="1"/>
          <p:nvPr>
            <p:ph idx="1" type="body"/>
          </p:nvPr>
        </p:nvSpPr>
        <p:spPr>
          <a:xfrm>
            <a:off x="4050707" y="1283517"/>
            <a:ext cx="4998043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56025" lvl="0" marL="36575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Whenever the microcontroller is powered ON, the GPIO pins are by default in this HIGH impedance state input mode.</a:t>
            </a:r>
            <a:endParaRPr/>
          </a:p>
          <a:p>
            <a:pPr indent="-140455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None/>
            </a:pPr>
            <a:r>
              <a:t/>
            </a:r>
            <a:endParaRPr/>
          </a:p>
          <a:p>
            <a:pPr indent="-256025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High-impedance or HI-Z State of a GPIO is the state when a pin is floating by not connecting to either </a:t>
            </a:r>
            <a:r>
              <a:rPr b="1" lang="en-US"/>
              <a:t>HIGH (VCC)</a:t>
            </a:r>
            <a:r>
              <a:rPr lang="en-US"/>
              <a:t> or </a:t>
            </a:r>
            <a:r>
              <a:rPr b="1" lang="en-US"/>
              <a:t>LOW (GND)</a:t>
            </a:r>
            <a:r>
              <a:rPr lang="en-US"/>
              <a:t> Voltage levels. </a:t>
            </a:r>
            <a:endParaRPr/>
          </a:p>
          <a:p>
            <a:pPr indent="0" lvl="0" marL="109725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-256025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Its state is indeterminate (cannot determine the logic level, which is </a:t>
            </a:r>
            <a:r>
              <a:rPr b="1" lang="en-US"/>
              <a:t>0</a:t>
            </a:r>
            <a:r>
              <a:rPr lang="en-US"/>
              <a:t> or </a:t>
            </a:r>
            <a:r>
              <a:rPr b="1" lang="en-US"/>
              <a:t>1</a:t>
            </a:r>
            <a:r>
              <a:rPr lang="en-US"/>
              <a:t>) unless it is driven high or low externally.</a:t>
            </a:r>
            <a:endParaRPr/>
          </a:p>
          <a:p>
            <a:pPr indent="-140455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None/>
            </a:pPr>
            <a:r>
              <a:t/>
            </a:r>
            <a:endParaRPr/>
          </a:p>
          <a:p>
            <a:pPr indent="-256025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Floating state can lead to leakage current, which may result in high power consumption because a floating pin is highly susceptible to picking up the noise and may result in leakage current.</a:t>
            </a:r>
            <a:endParaRPr/>
          </a:p>
          <a:p>
            <a:pPr indent="0" lvl="0" marL="109725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-256025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🡪 It is recommended to keep the unused pins in either a pull-up or pull-down state to avoid leakage of current. </a:t>
            </a:r>
            <a:endParaRPr/>
          </a:p>
        </p:txBody>
      </p:sp>
      <p:sp>
        <p:nvSpPr>
          <p:cNvPr id="162" name="Google Shape;162;p6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High-impedance</a:t>
            </a:r>
            <a:endParaRPr/>
          </a:p>
        </p:txBody>
      </p:sp>
      <p:pic>
        <p:nvPicPr>
          <p:cNvPr descr="High Impedance" id="163" name="Google Shape;16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575" y="1653610"/>
            <a:ext cx="3755877" cy="3755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"/>
          <p:cNvSpPr txBox="1"/>
          <p:nvPr>
            <p:ph idx="1" type="body"/>
          </p:nvPr>
        </p:nvSpPr>
        <p:spPr>
          <a:xfrm>
            <a:off x="4819828" y="1283517"/>
            <a:ext cx="4228922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The internal </a:t>
            </a:r>
            <a:r>
              <a:rPr b="1" lang="en-US"/>
              <a:t>pull-up resistor</a:t>
            </a:r>
            <a:r>
              <a:rPr lang="en-US"/>
              <a:t> is connected to the pin. So, the state will be </a:t>
            </a:r>
            <a:r>
              <a:rPr b="1" lang="en-US"/>
              <a:t>HIGH</a:t>
            </a:r>
            <a:r>
              <a:rPr lang="en-US"/>
              <a:t> unless an external pull-down resistor is used. </a:t>
            </a:r>
            <a:endParaRPr/>
          </a:p>
          <a:p>
            <a:pPr indent="-90926" lvl="0" marL="365751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-256026" lvl="0" marL="365751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There will be a particular register to enable this pull-up resistor in the microcontroller (check  on the datasheet)</a:t>
            </a:r>
            <a:endParaRPr/>
          </a:p>
        </p:txBody>
      </p:sp>
      <p:sp>
        <p:nvSpPr>
          <p:cNvPr id="169" name="Google Shape;169;p7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Pull Up</a:t>
            </a:r>
            <a:endParaRPr/>
          </a:p>
        </p:txBody>
      </p:sp>
      <p:pic>
        <p:nvPicPr>
          <p:cNvPr descr="Pullup resistor" id="170" name="Google Shape;17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036" y="1627972"/>
            <a:ext cx="4200259" cy="4200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"/>
          <p:cNvSpPr txBox="1"/>
          <p:nvPr>
            <p:ph idx="1" type="body"/>
          </p:nvPr>
        </p:nvSpPr>
        <p:spPr>
          <a:xfrm>
            <a:off x="4307080" y="1283517"/>
            <a:ext cx="4741670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In this type, the internal pull-down resistor is connected to the pin. So, the state will be </a:t>
            </a:r>
            <a:r>
              <a:rPr b="1" lang="en-US"/>
              <a:t>Low </a:t>
            </a:r>
            <a:r>
              <a:rPr lang="en-US"/>
              <a:t>unless an external pull-up resistor is used. </a:t>
            </a:r>
            <a:endParaRPr/>
          </a:p>
          <a:p>
            <a:pPr indent="0" lvl="0" marL="10972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-256026" lvl="0" marL="365751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There will be a particular register to enable this pull-down resistor in the microcontroller. </a:t>
            </a:r>
            <a:endParaRPr/>
          </a:p>
        </p:txBody>
      </p:sp>
      <p:sp>
        <p:nvSpPr>
          <p:cNvPr id="176" name="Google Shape;176;p8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Pull Down</a:t>
            </a:r>
            <a:endParaRPr/>
          </a:p>
        </p:txBody>
      </p:sp>
      <p:pic>
        <p:nvPicPr>
          <p:cNvPr descr="Pull down resistor" id="177" name="Google Shape;17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574" y="1875802"/>
            <a:ext cx="4029342" cy="4029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a9bd2eda50_0_306"/>
          <p:cNvSpPr txBox="1"/>
          <p:nvPr>
            <p:ph type="ctrTitle"/>
          </p:nvPr>
        </p:nvSpPr>
        <p:spPr>
          <a:xfrm>
            <a:off x="233797" y="971550"/>
            <a:ext cx="8650800" cy="25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Impact"/>
              <a:buNone/>
            </a:pPr>
            <a:r>
              <a:rPr b="1" lang="en-US"/>
              <a:t>P</a:t>
            </a:r>
            <a:r>
              <a:rPr lang="en-US"/>
              <a:t>ulse </a:t>
            </a:r>
            <a:r>
              <a:rPr b="1" lang="en-US"/>
              <a:t>W</a:t>
            </a:r>
            <a:r>
              <a:rPr lang="en-US"/>
              <a:t>idth </a:t>
            </a:r>
            <a:r>
              <a:rPr b="1" lang="en-US"/>
              <a:t>M</a:t>
            </a:r>
            <a:r>
              <a:rPr lang="en-US"/>
              <a:t>odulation (PWM)</a:t>
            </a:r>
            <a:endParaRPr>
              <a:solidFill>
                <a:srgbClr val="FFFF00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a9bd2eda50_0_102"/>
          <p:cNvSpPr txBox="1"/>
          <p:nvPr>
            <p:ph idx="1" type="body"/>
          </p:nvPr>
        </p:nvSpPr>
        <p:spPr>
          <a:xfrm>
            <a:off x="38529" y="5741043"/>
            <a:ext cx="9010200" cy="9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5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All waves have the </a:t>
            </a:r>
            <a:r>
              <a:rPr b="1" lang="en-US"/>
              <a:t>same frequency </a:t>
            </a:r>
            <a:r>
              <a:rPr lang="en-US"/>
              <a:t>but </a:t>
            </a:r>
            <a:r>
              <a:rPr b="1" lang="en-US">
                <a:solidFill>
                  <a:srgbClr val="FF0000"/>
                </a:solidFill>
              </a:rPr>
              <a:t>different duty-cycle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89" name="Google Shape;189;g2a9bd2eda50_0_102"/>
          <p:cNvSpPr txBox="1"/>
          <p:nvPr>
            <p:ph type="title"/>
          </p:nvPr>
        </p:nvSpPr>
        <p:spPr>
          <a:xfrm>
            <a:off x="38529" y="475180"/>
            <a:ext cx="9010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Frequency and Duty Cycle</a:t>
            </a:r>
            <a:endParaRPr/>
          </a:p>
        </p:txBody>
      </p:sp>
      <p:pic>
        <p:nvPicPr>
          <p:cNvPr descr="PWM pulse width modulation" id="190" name="Google Shape;190;g2a9bd2eda50_0_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1561" y="1371719"/>
            <a:ext cx="6045882" cy="41484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a9bd2eda50_0_0"/>
          <p:cNvSpPr txBox="1"/>
          <p:nvPr>
            <p:ph idx="1" type="body"/>
          </p:nvPr>
        </p:nvSpPr>
        <p:spPr>
          <a:xfrm>
            <a:off x="38529" y="4614729"/>
            <a:ext cx="9010200" cy="2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5" lvl="0" marL="365751" rtl="0" algn="just">
              <a:spcBef>
                <a:spcPts val="0"/>
              </a:spcBef>
              <a:spcAft>
                <a:spcPts val="0"/>
              </a:spcAft>
              <a:buSzPts val="2600"/>
              <a:buChar char="▪"/>
            </a:pPr>
            <a:r>
              <a:rPr b="1" lang="en-US"/>
              <a:t>Cycle (T) = </a:t>
            </a:r>
            <a:r>
              <a:rPr lang="en-US"/>
              <a:t>On-period + OFF-period </a:t>
            </a:r>
            <a:r>
              <a:rPr b="1" lang="en-US"/>
              <a:t>(s)</a:t>
            </a:r>
            <a:endParaRPr/>
          </a:p>
          <a:p>
            <a:pPr indent="-256025" lvl="0" marL="365751" rtl="0" algn="just">
              <a:spcBef>
                <a:spcPts val="300"/>
              </a:spcBef>
              <a:spcAft>
                <a:spcPts val="0"/>
              </a:spcAft>
              <a:buSzPts val="2600"/>
              <a:buChar char="▪"/>
            </a:pPr>
            <a:r>
              <a:rPr b="1" lang="en-US"/>
              <a:t>Frequency (F) = </a:t>
            </a:r>
            <a:r>
              <a:rPr lang="en-US"/>
              <a:t>1 /T   </a:t>
            </a:r>
            <a:r>
              <a:rPr b="1" lang="en-US"/>
              <a:t>(Hz)</a:t>
            </a:r>
            <a:endParaRPr/>
          </a:p>
          <a:p>
            <a:pPr indent="-256025" lvl="0" marL="365751" rtl="0" algn="just">
              <a:spcBef>
                <a:spcPts val="30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Duty Cycle = ON-period/T </a:t>
            </a:r>
            <a:r>
              <a:rPr b="1" lang="en-US"/>
              <a:t>(%)</a:t>
            </a:r>
            <a:endParaRPr b="1"/>
          </a:p>
        </p:txBody>
      </p:sp>
      <p:sp>
        <p:nvSpPr>
          <p:cNvPr id="196" name="Google Shape;196;g2a9bd2eda50_0_0"/>
          <p:cNvSpPr txBox="1"/>
          <p:nvPr>
            <p:ph type="title"/>
          </p:nvPr>
        </p:nvSpPr>
        <p:spPr>
          <a:xfrm>
            <a:off x="38529" y="475180"/>
            <a:ext cx="9010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LED Blinky with PWM</a:t>
            </a:r>
            <a:endParaRPr/>
          </a:p>
        </p:txBody>
      </p:sp>
      <p:pic>
        <p:nvPicPr>
          <p:cNvPr descr="Using TIMER1 to blink a LED once per second for 50ms - Programming  Questions - Arduino Forum" id="197" name="Google Shape;197;g2a9bd2eda50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302" y="1771266"/>
            <a:ext cx="4672801" cy="18902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ED Driver Selection | element14 India" id="198" name="Google Shape;198;g2a9bd2eda50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81007" y="1771266"/>
            <a:ext cx="3706620" cy="18445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a9bd2eda50_0_317"/>
          <p:cNvSpPr txBox="1"/>
          <p:nvPr>
            <p:ph type="ctrTitle"/>
          </p:nvPr>
        </p:nvSpPr>
        <p:spPr>
          <a:xfrm>
            <a:off x="233797" y="971550"/>
            <a:ext cx="8650800" cy="25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Impact"/>
              <a:buNone/>
            </a:pPr>
            <a:r>
              <a:rPr lang="en-US"/>
              <a:t>Analog To Digital Converter (ADC)</a:t>
            </a:r>
            <a:endParaRPr>
              <a:solidFill>
                <a:srgbClr val="FFFF00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a9bd2eda50_0_330"/>
          <p:cNvSpPr txBox="1"/>
          <p:nvPr>
            <p:ph type="title"/>
          </p:nvPr>
        </p:nvSpPr>
        <p:spPr>
          <a:xfrm>
            <a:off x="38529" y="475180"/>
            <a:ext cx="9010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ADC Circuit</a:t>
            </a:r>
            <a:endParaRPr/>
          </a:p>
        </p:txBody>
      </p:sp>
      <p:pic>
        <p:nvPicPr>
          <p:cNvPr id="210" name="Google Shape;210;g2a9bd2eda50_0_3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650" y="1523475"/>
            <a:ext cx="4938975" cy="353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g2a9bd2eda50_0_3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1525" y="1523480"/>
            <a:ext cx="3597575" cy="224923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g2a9bd2eda50_0_330"/>
          <p:cNvSpPr txBox="1"/>
          <p:nvPr>
            <p:ph idx="1" type="body"/>
          </p:nvPr>
        </p:nvSpPr>
        <p:spPr>
          <a:xfrm>
            <a:off x="38525" y="5356501"/>
            <a:ext cx="9010200" cy="13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5" lvl="0" marL="365751" rtl="0" algn="just">
              <a:spcBef>
                <a:spcPts val="300"/>
              </a:spcBef>
              <a:spcAft>
                <a:spcPts val="0"/>
              </a:spcAft>
              <a:buSzPts val="2600"/>
              <a:buChar char="▪"/>
            </a:pPr>
            <a:r>
              <a:rPr b="1" lang="en-US"/>
              <a:t>X </a:t>
            </a:r>
            <a:r>
              <a:rPr lang="en-US"/>
              <a:t>means</a:t>
            </a:r>
            <a:r>
              <a:rPr b="1" lang="en-US"/>
              <a:t> don’t care </a:t>
            </a:r>
            <a:r>
              <a:rPr lang="en-US"/>
              <a:t>(X =  0 or 1)</a:t>
            </a:r>
            <a:endParaRPr/>
          </a:p>
          <a:p>
            <a:pPr indent="-256025" lvl="0" marL="365751" rtl="0" algn="just">
              <a:spcBef>
                <a:spcPts val="30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ADC 2 bits</a:t>
            </a:r>
            <a:endParaRPr/>
          </a:p>
          <a:p>
            <a:pPr indent="-256025" lvl="0" marL="365751" rtl="0" algn="just">
              <a:spcBef>
                <a:spcPts val="30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Voltage resolution = 1V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raining presentation">
  <a:themeElements>
    <a:clrScheme name="Green Yellow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Green Yellow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2014-07-29T03:47:45Z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TC034606049991</vt:lpwstr>
  </property>
</Properties>
</file>