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7102475" cy="10233025"/>
  <p:embeddedFontLst>
    <p:embeddedFont>
      <p:font typeface="Tahoma"/>
      <p:regular r:id="rId26"/>
      <p:bold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/cS6ptC/R7ZNqZfe439ttvmkM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1A28B-5A90-489A-AF18-FB782E76EA4C}">
  <a:tblStyle styleId="{EED1A28B-5A90-489A-AF18-FB782E76EA4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6E7"/>
          </a:solidFill>
        </a:fill>
      </a:tcStyle>
    </a:wholeTbl>
    <a:band1H>
      <a:tcTxStyle/>
      <a:tcStyle>
        <a:fill>
          <a:solidFill>
            <a:srgbClr val="DDECCC"/>
          </a:solidFill>
        </a:fill>
      </a:tcStyle>
    </a:band1H>
    <a:band2H>
      <a:tcTxStyle/>
    </a:band2H>
    <a:band1V>
      <a:tcTxStyle/>
      <a:tcStyle>
        <a:fill>
          <a:solidFill>
            <a:srgbClr val="DDEC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ahoma-regular.fntdata"/><Relationship Id="rId25" Type="http://schemas.openxmlformats.org/officeDocument/2006/relationships/slide" Target="slides/slide19.xml"/><Relationship Id="rId28" Type="http://schemas.openxmlformats.org/officeDocument/2006/relationships/font" Target="fonts/CenturyGothic-regular.fnt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386ebe13f_0_6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28386ebe13f_0_6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386ebe13f_1_0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28386ebe13f_1_0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9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9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9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9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9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9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9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9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200" u="none" cap="none" strike="noStrik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4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6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7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89" name="Google Shape;89;p27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8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9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8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8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8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8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8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rongnhanle@hcmut.edu.vn" TargetMode="External"/><Relationship Id="rId4" Type="http://schemas.openxmlformats.org/officeDocument/2006/relationships/hyperlink" Target="mailto:trongnhanle@hcmut.edu.vn" TargetMode="External"/><Relationship Id="rId5" Type="http://schemas.openxmlformats.org/officeDocument/2006/relationships/hyperlink" Target="mailto:trongnhanle85@gmail.com" TargetMode="External"/><Relationship Id="rId6" Type="http://schemas.openxmlformats.org/officeDocument/2006/relationships/image" Target="../media/image12.jp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4.jpg"/><Relationship Id="rId5" Type="http://schemas.openxmlformats.org/officeDocument/2006/relationships/image" Target="../media/image15.jpg"/><Relationship Id="rId6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n.wikipedia.org/wiki/Model_of_computation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Micro Processing System</a:t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 sz="3600">
                <a:solidFill>
                  <a:srgbClr val="FFFF00"/>
                </a:solidFill>
              </a:rPr>
              <a:t>Micro-Controller</a:t>
            </a:r>
            <a:r>
              <a:rPr lang="en-US" sz="3600">
                <a:solidFill>
                  <a:srgbClr val="FFFF00"/>
                </a:solidFill>
              </a:rPr>
              <a:t> and </a:t>
            </a:r>
            <a:r>
              <a:rPr lang="en-US" sz="3600">
                <a:solidFill>
                  <a:srgbClr val="FFFF00"/>
                </a:solidFill>
              </a:rPr>
              <a:t>Micro-Processor</a:t>
            </a:r>
            <a:r>
              <a:rPr lang="en-US" sz="3600">
                <a:solidFill>
                  <a:srgbClr val="FFFF00"/>
                </a:solidFill>
              </a:rPr>
              <a:t> Unit</a:t>
            </a:r>
            <a:endParaRPr sz="3600">
              <a:solidFill>
                <a:srgbClr val="FFFF00"/>
              </a:solidFill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2892" y="6073587"/>
            <a:ext cx="4253134" cy="78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64006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u="sng">
              <a:solidFill>
                <a:schemeClr val="hlink"/>
              </a:solidFill>
              <a:hlinkClick r:id="rId3"/>
            </a:endParaRPr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trongnhanle@hcmut.edu.vn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trongnhanle85@gmail.com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88077" y="5504481"/>
            <a:ext cx="3444900" cy="749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LÊ TRỌNG NHÂN</a:t>
            </a:r>
            <a:endParaRPr b="1" i="0" sz="3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erything You Need to Know About Microcontrollers | RS Components" id="111" name="Google Shape;11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5961" y="4278876"/>
            <a:ext cx="4568039" cy="257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uide for selecting the right microcontroller for your IoT project – IIoT  World" id="112" name="Google Shape;112;p1"/>
          <p:cNvPicPr preferRelativeResize="0"/>
          <p:nvPr/>
        </p:nvPicPr>
        <p:blipFill rotWithShape="1">
          <a:blip r:embed="rId7">
            <a:alphaModFix/>
          </a:blip>
          <a:srcRect b="12277" l="0" r="0" t="19720"/>
          <a:stretch/>
        </p:blipFill>
        <p:spPr>
          <a:xfrm>
            <a:off x="-120" y="3974076"/>
            <a:ext cx="4576081" cy="153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386ebe13f_0_6"/>
          <p:cNvSpPr txBox="1"/>
          <p:nvPr>
            <p:ph idx="1" type="body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15 weeks for Lectures 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6 weeks for Labs (30%)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MCQs for Mid-term (20%)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MCQs for Final-term (50%)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Final project: +1 maximum</a:t>
            </a:r>
            <a:endParaRPr b="1"/>
          </a:p>
        </p:txBody>
      </p:sp>
      <p:sp>
        <p:nvSpPr>
          <p:cNvPr id="118" name="Google Shape;118;g28386ebe13f_0_6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Zalo Group [KSTN]</a:t>
            </a:r>
            <a:endParaRPr/>
          </a:p>
        </p:txBody>
      </p:sp>
      <p:pic>
        <p:nvPicPr>
          <p:cNvPr id="119" name="Google Shape;119;g28386ebe13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775" y="1283530"/>
            <a:ext cx="3174975" cy="32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8386ebe13f_0_6"/>
          <p:cNvSpPr txBox="1"/>
          <p:nvPr/>
        </p:nvSpPr>
        <p:spPr>
          <a:xfrm>
            <a:off x="5164775" y="4866325"/>
            <a:ext cx="361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https://zalo.me/g/yhlqbv805</a:t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8386ebe13f_1_0"/>
          <p:cNvSpPr txBox="1"/>
          <p:nvPr>
            <p:ph idx="1" type="body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15 weeks for Lectures 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6 weeks for Labs (30%)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MCQs for Mid-term (20%)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MCQs for Final-term (50%)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Final project: +2 maximum</a:t>
            </a:r>
            <a:endParaRPr b="1"/>
          </a:p>
        </p:txBody>
      </p:sp>
      <p:sp>
        <p:nvSpPr>
          <p:cNvPr id="126" name="Google Shape;126;g28386ebe13f_1_0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Zalo Group [CLC]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15 weeks for Lectures 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6 weeks for Labs (30%)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MCQs for Mid-term (20%)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MCQs for Final-term (50%)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Final project: +2 maximum</a:t>
            </a:r>
            <a:endParaRPr/>
          </a:p>
        </p:txBody>
      </p:sp>
      <p:sp>
        <p:nvSpPr>
          <p:cNvPr id="132" name="Google Shape;132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Course Information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5579575" y="5042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https://zalo.me/g/wwicvv724</a:t>
            </a:r>
            <a:endParaRPr/>
          </a:p>
        </p:txBody>
      </p:sp>
      <p:pic>
        <p:nvPicPr>
          <p:cNvPr id="134" name="Google Shape;13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116" y="1224800"/>
            <a:ext cx="3266925" cy="3328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Understand microcontroller basics including all common interfaces: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General Input/Output GPIO (LEDs, Buttons)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Interrupts: Timer Interrupt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Serial communications: UART, I2C, SPI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Final projects: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Validate on hardware platforms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Group of 3 students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Presentations and Demos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15 Weeks for Lectures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Software requirements: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STMCubeIDE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Proteus simulations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Github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Reports are required to submit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6 Weeks for Labs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 project is given and students have 24 hour to submit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format is similar to the LAB: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Project description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Project manual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5 – 10 steps to finalize the project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Topic is related to LED – Buttons – Timer Interrupt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Programing on STM32CubeIDE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Simulate on Proteus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Submit the Report for evaluation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24h Project for Midterm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Networking &amp; communications</a:t>
            </a:r>
            <a:endParaRPr/>
          </a:p>
          <a:p>
            <a:pPr indent="-256026" lvl="2" marL="63092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/>
              <a:t>phones, modems, switches, routers, signal processors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Embedded products &amp; systems</a:t>
            </a:r>
            <a:endParaRPr/>
          </a:p>
          <a:p>
            <a:pPr indent="-256026" lvl="2" marL="63092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/>
              <a:t>consumer electronics, appliances, entertainment devices, medical devices, security, transportation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Scientific instruments &amp; equipment</a:t>
            </a:r>
            <a:endParaRPr/>
          </a:p>
          <a:p>
            <a:pPr indent="-256026" lvl="2" marL="63092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/>
              <a:t>simulation, testing, sensing, logging, reporting, analyzing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Many more.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lang="en-US" sz="2800"/>
              <a:t>Microcontroller and Microprocessor Applications</a:t>
            </a:r>
            <a:endParaRPr sz="28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Microprocessor vs Microcontroller</a:t>
            </a:r>
            <a:endParaRPr/>
          </a:p>
        </p:txBody>
      </p:sp>
      <p:graphicFrame>
        <p:nvGraphicFramePr>
          <p:cNvPr id="164" name="Google Shape;164;p7"/>
          <p:cNvGraphicFramePr/>
          <p:nvPr/>
        </p:nvGraphicFramePr>
        <p:xfrm>
          <a:off x="1535575" y="16979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{EED1A28B-5A90-489A-AF18-FB782E76EA4C}</a:tableStyleId>
              </a:tblPr>
              <a:tblGrid>
                <a:gridCol w="3048000"/>
                <a:gridCol w="304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MPU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MCU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Stand-alone CPU, RAM, ROM and IO (</a:t>
                      </a:r>
                      <a:r>
                        <a:rPr b="1" lang="en-US" sz="1800" u="none" cap="none" strike="noStrike"/>
                        <a:t>and Timer</a:t>
                      </a:r>
                      <a:r>
                        <a:rPr lang="en-US" sz="1800" u="none" cap="none" strike="noStrike"/>
                        <a:t>) are separated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CPU, RAM, ROM and IO (</a:t>
                      </a:r>
                      <a:r>
                        <a:rPr b="1" lang="en-US" sz="1800" u="none" cap="none" strike="noStrike"/>
                        <a:t>and Timer</a:t>
                      </a:r>
                      <a:r>
                        <a:rPr lang="en-US" sz="1800" u="none" cap="none" strike="noStrike"/>
                        <a:t>) are all on a single chip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ROM, RAM and IO can be customized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ROM, RAM and IO are fixed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Expensive, versatility and general purpose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Low cost, power and single-purpose (control-oriented)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High resource of power, processing and memory (for AI inferences)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Low resource of power, processing and memory (for device controller)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Normal Operating System (32 or 64 bits)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Real Time Operating System (8 or 16 bit)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133779" y="1652186"/>
            <a:ext cx="5139261" cy="1989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Micro-Controller Unit </a:t>
            </a:r>
            <a:r>
              <a:rPr lang="en-US"/>
              <a:t>(MCU) contains RAM, ROM and IO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Micro-Processor Unit </a:t>
            </a:r>
            <a:r>
              <a:rPr lang="en-US"/>
              <a:t>(MPU) only contains the CPU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System on Chip</a:t>
            </a:r>
            <a:r>
              <a:rPr lang="en-US"/>
              <a:t> (SoC) refers to MCUs with a greater number of onboard peripherals and functionality</a:t>
            </a:r>
            <a:endParaRPr/>
          </a:p>
        </p:txBody>
      </p:sp>
      <p:sp>
        <p:nvSpPr>
          <p:cNvPr id="170" name="Google Shape;170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Micro-Controller Platform</a:t>
            </a:r>
            <a:endParaRPr/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47334" l="55167" r="15166" t="25110"/>
          <a:stretch/>
        </p:blipFill>
        <p:spPr>
          <a:xfrm>
            <a:off x="5273040" y="1652186"/>
            <a:ext cx="3807489" cy="1989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2347" y="3952240"/>
            <a:ext cx="2428240" cy="242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chip IoT platform" id="173" name="Google Shape;17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6087" y="3952240"/>
            <a:ext cx="1616410" cy="2428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6798392" y="6444239"/>
            <a:ext cx="1891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http://www.microchip.com</a:t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3892632" y="6434549"/>
            <a:ext cx="1357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http://www.ti.com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UCLEO-L412RB-P STMicroelectronics | Mouser"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887" y="3789680"/>
            <a:ext cx="2654559" cy="2654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Program on MPU vs MCU</a:t>
            </a:r>
            <a:endParaRPr/>
          </a:p>
        </p:txBody>
      </p:sp>
      <p:pic>
        <p:nvPicPr>
          <p:cNvPr descr="Dijkstra's Algorithm Source Code | Download Scientific Diagram"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1736" r="0" t="0"/>
          <a:stretch/>
        </p:blipFill>
        <p:spPr>
          <a:xfrm>
            <a:off x="300942" y="1224794"/>
            <a:ext cx="3893182" cy="29536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cursion - How to recursively program a multiplication algorithms - Stack  Overflow" id="183" name="Google Shape;183;p9"/>
          <p:cNvPicPr preferRelativeResize="0"/>
          <p:nvPr/>
        </p:nvPicPr>
        <p:blipFill rotWithShape="1">
          <a:blip r:embed="rId4">
            <a:alphaModFix/>
          </a:blip>
          <a:srcRect b="13181" l="6156" r="14601" t="18590"/>
          <a:stretch/>
        </p:blipFill>
        <p:spPr>
          <a:xfrm>
            <a:off x="300942" y="4447760"/>
            <a:ext cx="4413562" cy="2272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008" y="1490386"/>
            <a:ext cx="4047844" cy="2161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a state machine?" id="185" name="Google Shape;185;p9"/>
          <p:cNvPicPr preferRelativeResize="0"/>
          <p:nvPr/>
        </p:nvPicPr>
        <p:blipFill rotWithShape="1">
          <a:blip r:embed="rId6">
            <a:alphaModFix/>
          </a:blip>
          <a:srcRect b="8125" l="4497" r="2862" t="11870"/>
          <a:stretch/>
        </p:blipFill>
        <p:spPr>
          <a:xfrm>
            <a:off x="5608319" y="3917201"/>
            <a:ext cx="3048001" cy="2632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 turns on and off every second (LED Blinky)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 turns on for </a:t>
            </a:r>
            <a:r>
              <a:rPr b="1" lang="en-US"/>
              <a:t>3 seconds</a:t>
            </a:r>
            <a:r>
              <a:rPr lang="en-US"/>
              <a:t> and then turns off for </a:t>
            </a:r>
            <a:r>
              <a:rPr b="1" lang="en-US"/>
              <a:t>5 second</a:t>
            </a:r>
            <a:r>
              <a:rPr lang="en-US"/>
              <a:t>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Digital Clock with hour, minute and second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Change the delay from 1000 to 10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Warm up Exercises</a:t>
            </a:r>
            <a:endParaRPr/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3917" y="4815660"/>
            <a:ext cx="3720083" cy="19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 Language: Header and C++ Files 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420711" y="2371531"/>
            <a:ext cx="3226729" cy="3970318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#ifndef 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__LED_H_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__LED_H_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&lt;system_lib.h&gt;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“user_lib.h”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“UserFolder/lib.h”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int T_on;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int T_off;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setOn(long duration);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setoff(long duration);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#endif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5199844" y="2233031"/>
            <a:ext cx="3226729" cy="4247317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“led.h”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T_on;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T_off; 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counter;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setOn(long duration){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//TODO: set LED on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setoff(long duration){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//TODO: set LED off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delay(long duration){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//TODO: set delay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pic>
        <p:nvPicPr>
          <p:cNvPr descr="Image result for C header file and cpp icon"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15" y="1300163"/>
            <a:ext cx="985837" cy="985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068" y="1183481"/>
            <a:ext cx="1219200" cy="1219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10"/>
          <p:cNvCxnSpPr/>
          <p:nvPr/>
        </p:nvCxnSpPr>
        <p:spPr>
          <a:xfrm flipH="1" rot="10800000">
            <a:off x="2286000" y="3129200"/>
            <a:ext cx="2913900" cy="1544400"/>
          </a:xfrm>
          <a:prstGeom prst="bentConnector3">
            <a:avLst>
              <a:gd fmla="val 62203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03" name="Google Shape;203;p10"/>
          <p:cNvCxnSpPr/>
          <p:nvPr/>
        </p:nvCxnSpPr>
        <p:spPr>
          <a:xfrm flipH="1" rot="10800000">
            <a:off x="2987040" y="4084240"/>
            <a:ext cx="2212800" cy="1239600"/>
          </a:xfrm>
          <a:prstGeom prst="bentConnector3">
            <a:avLst>
              <a:gd fmla="val 6102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04" name="Google Shape;204;p10"/>
          <p:cNvCxnSpPr/>
          <p:nvPr/>
        </p:nvCxnSpPr>
        <p:spPr>
          <a:xfrm flipH="1" rot="10800000">
            <a:off x="2987040" y="4887942"/>
            <a:ext cx="2212800" cy="740700"/>
          </a:xfrm>
          <a:prstGeom prst="bentConnector3">
            <a:avLst>
              <a:gd fmla="val 7158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 Language: Main File</a:t>
            </a:r>
            <a:endParaRPr/>
          </a:p>
        </p:txBody>
      </p:sp>
      <p:pic>
        <p:nvPicPr>
          <p:cNvPr descr="Image result for C header file and cpp icon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44" y="1633867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253779" y="1569721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212" name="Google Shape;2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944" y="2360122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 header file and cpp icon" id="213" name="Google Shape;2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101" y="2458544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1122936" y="2394398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215" name="Google Shape;2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9101" y="3184799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 header file and cpp icon"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258" y="3486880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1992093" y="3422734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258" y="4213135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 header file and cpp icon"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7415" y="4311557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2861250" y="4247411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221" name="Google Shape;2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7415" y="5037812"/>
            <a:ext cx="686398" cy="686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/>
          <p:nvPr/>
        </p:nvSpPr>
        <p:spPr>
          <a:xfrm>
            <a:off x="3840815" y="1338985"/>
            <a:ext cx="2397616" cy="528400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111514" y="1478495"/>
            <a:ext cx="3093578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“led.h”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“timer.h”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“gpio.h”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“button.h”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initGPIO();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initTimer();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initButton();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initLED();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….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while(1){};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void timer_isr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void ext_isr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359798" y="3269447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1110597" y="4063818"/>
            <a:ext cx="788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2038258" y="5057113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2861250" y="5896766"/>
            <a:ext cx="9795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>
            <p:ph idx="1" type="body"/>
          </p:nvPr>
        </p:nvSpPr>
        <p:spPr>
          <a:xfrm>
            <a:off x="6395007" y="5426447"/>
            <a:ext cx="2600400" cy="9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System operations are implemented in </a:t>
            </a:r>
            <a:r>
              <a:rPr b="1" lang="en-US">
                <a:solidFill>
                  <a:srgbClr val="FF0000"/>
                </a:solidFill>
              </a:rPr>
              <a:t>interrupt functions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6357856" y="1562658"/>
            <a:ext cx="2600465" cy="789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6025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Modules/ Libraries are included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6357855" y="3219075"/>
            <a:ext cx="2600465" cy="789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6025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Modules/ Libraries are initiated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>
            <p:ph idx="1" type="body"/>
          </p:nvPr>
        </p:nvSpPr>
        <p:spPr>
          <a:xfrm>
            <a:off x="38529" y="1283517"/>
            <a:ext cx="9010221" cy="1271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Finite-State Machine</a:t>
            </a:r>
            <a:r>
              <a:rPr lang="en-US"/>
              <a:t> (</a:t>
            </a:r>
            <a:r>
              <a:rPr b="1" lang="en-US"/>
              <a:t>FSM</a:t>
            </a:r>
            <a:r>
              <a:rPr lang="en-US"/>
              <a:t>) or </a:t>
            </a:r>
            <a:r>
              <a:rPr b="1" lang="en-US"/>
              <a:t>Deterministic</a:t>
            </a:r>
            <a:r>
              <a:rPr lang="en-US"/>
              <a:t> </a:t>
            </a:r>
            <a:r>
              <a:rPr b="1" lang="en-US"/>
              <a:t>Finite Automata</a:t>
            </a:r>
            <a:r>
              <a:rPr lang="en-US"/>
              <a:t> (</a:t>
            </a:r>
            <a:r>
              <a:rPr b="1" lang="en-US"/>
              <a:t>DFA</a:t>
            </a:r>
            <a:r>
              <a:rPr lang="en-US"/>
              <a:t>), </a:t>
            </a:r>
            <a:r>
              <a:rPr b="1" lang="en-US"/>
              <a:t>finite automaton</a:t>
            </a:r>
            <a:r>
              <a:rPr lang="en-US"/>
              <a:t>, or simply a </a:t>
            </a:r>
            <a:r>
              <a:rPr b="1" lang="en-US"/>
              <a:t>state machine</a:t>
            </a:r>
            <a:r>
              <a:rPr lang="en-US"/>
              <a:t>, is a mathematical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model of computation</a:t>
            </a:r>
            <a:endParaRPr/>
          </a:p>
        </p:txBody>
      </p:sp>
      <p:sp>
        <p:nvSpPr>
          <p:cNvPr id="236" name="Google Shape;236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Finite State Machine (FSM)</a:t>
            </a:r>
            <a:endParaRPr/>
          </a:p>
        </p:txBody>
      </p:sp>
      <p:pic>
        <p:nvPicPr>
          <p:cNvPr descr="https://upload.wikimedia.org/wikipedia/commons/9/97/Torniqueterevolution.jpg" id="237" name="Google Shape;2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6079" y="2752769"/>
            <a:ext cx="1307745" cy="19880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/>
        </p:nvSpPr>
        <p:spPr>
          <a:xfrm>
            <a:off x="7254910" y="4219622"/>
            <a:ext cx="1197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turnstile</a:t>
            </a:r>
            <a:endParaRPr/>
          </a:p>
        </p:txBody>
      </p:sp>
      <p:graphicFrame>
        <p:nvGraphicFramePr>
          <p:cNvPr id="239" name="Google Shape;239;p13"/>
          <p:cNvGraphicFramePr/>
          <p:nvPr/>
        </p:nvGraphicFramePr>
        <p:xfrm>
          <a:off x="648857" y="2654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{EED1A28B-5A90-489A-AF18-FB782E76EA4C}</a:tableStyleId>
              </a:tblPr>
              <a:tblGrid>
                <a:gridCol w="1545850"/>
                <a:gridCol w="1032975"/>
                <a:gridCol w="2058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Current State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Input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Next</a:t>
                      </a:r>
                      <a:r>
                        <a:rPr lang="en-US" sz="1800"/>
                        <a:t> State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Coin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Coin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File:Turnstile state machine colored.svg" id="240" name="Google Shape;240;p13"/>
          <p:cNvPicPr preferRelativeResize="0"/>
          <p:nvPr/>
        </p:nvPicPr>
        <p:blipFill rotWithShape="1">
          <a:blip r:embed="rId5">
            <a:alphaModFix/>
          </a:blip>
          <a:srcRect b="12318" l="5896" r="5657" t="12574"/>
          <a:stretch/>
        </p:blipFill>
        <p:spPr>
          <a:xfrm>
            <a:off x="1956122" y="4938421"/>
            <a:ext cx="4919241" cy="181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/>
          <p:nvPr>
            <p:ph idx="1" type="body"/>
          </p:nvPr>
        </p:nvSpPr>
        <p:spPr>
          <a:xfrm>
            <a:off x="38529" y="1283517"/>
            <a:ext cx="835344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09725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(1){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switch(status){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LOCKED: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lock_turnstile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(); //operation in a state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if(Coin == true)  //transition condition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status = UNLOCKED; //next state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UNLOCKED: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unlock_turnstile</a:t>
            </a: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//operation in a state</a:t>
            </a:r>
            <a:endParaRPr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if(Push == true)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//transition condition</a:t>
            </a:r>
            <a:endParaRPr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status = LOCKED; //next state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" name="Google Shape;246;p1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Finite State Machine Programming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Given an LED turns on for </a:t>
            </a:r>
            <a:r>
              <a:rPr b="1" lang="en-US"/>
              <a:t>T_on</a:t>
            </a:r>
            <a:r>
              <a:rPr lang="en-US"/>
              <a:t> and then turns off for </a:t>
            </a:r>
            <a:r>
              <a:rPr b="1" lang="en-US"/>
              <a:t>T_off</a:t>
            </a:r>
            <a:r>
              <a:rPr lang="en-US"/>
              <a:t>.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Design an DFA for this 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Implement the DFA in Arduino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digitalWrite(13, HIGH)</a:t>
            </a:r>
            <a:r>
              <a:rPr lang="en-US"/>
              <a:t>: turn on the LED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digitalWrite(13, LOW): </a:t>
            </a:r>
            <a:r>
              <a:rPr lang="en-US"/>
              <a:t>turn off the LED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setTime(duration): </a:t>
            </a:r>
            <a:r>
              <a:rPr lang="en-US"/>
              <a:t>set a clock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timer_flag = 0</a:t>
            </a:r>
            <a:r>
              <a:rPr lang="en-US"/>
              <a:t>), when the clock is expired,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timer_flag = 1</a:t>
            </a:r>
            <a:r>
              <a:rPr lang="en-US"/>
              <a:t>; duration is in mili-seconds.</a:t>
            </a:r>
            <a:endParaRPr/>
          </a:p>
        </p:txBody>
      </p:sp>
      <p:sp>
        <p:nvSpPr>
          <p:cNvPr id="252" name="Google Shape;252;p1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Example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idx="1" type="body"/>
          </p:nvPr>
        </p:nvSpPr>
        <p:spPr>
          <a:xfrm>
            <a:off x="0" y="4039293"/>
            <a:ext cx="9010221" cy="193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INIT: Set pin 13 to OUTPUT mode, set timer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LED_ON: Turn on the LED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LED_OFF: Turn off the LED </a:t>
            </a:r>
            <a:endParaRPr/>
          </a:p>
        </p:txBody>
      </p:sp>
      <p:sp>
        <p:nvSpPr>
          <p:cNvPr id="258" name="Google Shape;258;p1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Answer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883920" y="2031876"/>
            <a:ext cx="1280160" cy="107575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3415880" y="2033208"/>
            <a:ext cx="2255520" cy="107575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LED_ON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6286500" y="2094168"/>
            <a:ext cx="2255520" cy="107575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LED_OFF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6"/>
          <p:cNvCxnSpPr>
            <a:stCxn id="259" idx="6"/>
            <a:endCxn id="260" idx="2"/>
          </p:cNvCxnSpPr>
          <p:nvPr/>
        </p:nvCxnSpPr>
        <p:spPr>
          <a:xfrm>
            <a:off x="2164080" y="2569752"/>
            <a:ext cx="12519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3" name="Google Shape;263;p16"/>
          <p:cNvCxnSpPr>
            <a:stCxn id="260" idx="0"/>
            <a:endCxn id="261" idx="0"/>
          </p:cNvCxnSpPr>
          <p:nvPr/>
        </p:nvCxnSpPr>
        <p:spPr>
          <a:xfrm flipH="1" rot="-5400000">
            <a:off x="5948540" y="628308"/>
            <a:ext cx="60900" cy="2870700"/>
          </a:xfrm>
          <a:prstGeom prst="bentConnector3">
            <a:avLst>
              <a:gd fmla="val -8133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4" name="Google Shape;264;p16"/>
          <p:cNvCxnSpPr>
            <a:stCxn id="261" idx="4"/>
            <a:endCxn id="260" idx="4"/>
          </p:cNvCxnSpPr>
          <p:nvPr/>
        </p:nvCxnSpPr>
        <p:spPr>
          <a:xfrm flipH="1" rot="5400000">
            <a:off x="5948460" y="1704119"/>
            <a:ext cx="60900" cy="2870700"/>
          </a:xfrm>
          <a:prstGeom prst="bentConnector3">
            <a:avLst>
              <a:gd fmla="val -763251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5" name="Google Shape;265;p16"/>
          <p:cNvSpPr txBox="1"/>
          <p:nvPr/>
        </p:nvSpPr>
        <p:spPr>
          <a:xfrm>
            <a:off x="5250850" y="1135963"/>
            <a:ext cx="160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timer_flag ==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5175685" y="3236872"/>
            <a:ext cx="160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timer_flag ==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Answer (Arduino Code)</a:t>
            </a:r>
            <a:endParaRPr/>
          </a:p>
        </p:txBody>
      </p:sp>
      <p:sp>
        <p:nvSpPr>
          <p:cNvPr id="272" name="Google Shape;272;p17"/>
          <p:cNvSpPr txBox="1"/>
          <p:nvPr>
            <p:ph idx="1" type="body"/>
          </p:nvPr>
        </p:nvSpPr>
        <p:spPr>
          <a:xfrm>
            <a:off x="38529" y="1283517"/>
            <a:ext cx="416009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109725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loop()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switch(status){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INIT: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pinMode(13, OUTPUT);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setTimer(T_on);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status = LED_ON;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digitalWrite(13, HIGH);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LED_ON: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if(timer_flag == 1){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status = LED_OFF;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setTimer(T_off);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    digitalWrite(13, LOW);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LED_OFF: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if(timer_flag == 1){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status = LED_ON;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setTimer(T_on);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     	digitalWrite(13, HIGH);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delay(10);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4663869" y="1421242"/>
            <a:ext cx="416009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5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timer_run()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if(timer_counter &gt; 0)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timer_counter--;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if(counter_timer == 0)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timer_flag =1;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setTimer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(long duration){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timer_counter = duration;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timer_flag = 0;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