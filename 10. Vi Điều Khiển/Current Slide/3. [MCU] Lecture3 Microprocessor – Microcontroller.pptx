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102475" cy="10233025"/>
  <p:embeddedFontLst>
    <p:embeddedFont>
      <p:font typeface="Tahoma"/>
      <p:regular r:id="rId16"/>
      <p:bold r:id="rId17"/>
    </p:embeddedFon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IvjQPf7Vbo7f0D0iHByovVC+N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2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2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2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2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2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2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2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2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2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2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200" u="none" cap="none" strike="noStrik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0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1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1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1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1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1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rongnhanle@hcmut.edu.vn" TargetMode="External"/><Relationship Id="rId4" Type="http://schemas.openxmlformats.org/officeDocument/2006/relationships/hyperlink" Target="mailto:trongnhanle@hcmut.edu.vn" TargetMode="External"/><Relationship Id="rId5" Type="http://schemas.openxmlformats.org/officeDocument/2006/relationships/hyperlink" Target="mailto:trongnhanle85@gmail.com" TargetMode="External"/><Relationship Id="rId6" Type="http://schemas.openxmlformats.org/officeDocument/2006/relationships/image" Target="../media/image2.jp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Microprocessor – Microcontroller</a:t>
            </a:r>
            <a:br>
              <a:rPr lang="en-US">
                <a:solidFill>
                  <a:srgbClr val="FFFF00"/>
                </a:solidFill>
              </a:rPr>
            </a:br>
            <a:r>
              <a:rPr lang="en-US">
                <a:solidFill>
                  <a:srgbClr val="FFFF00"/>
                </a:solidFill>
              </a:rPr>
              <a:t>Introduction</a:t>
            </a:r>
            <a:endParaRPr/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2892" y="6073587"/>
            <a:ext cx="4253134" cy="78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64006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u="sng">
              <a:solidFill>
                <a:schemeClr val="hlink"/>
              </a:solidFill>
              <a:hlinkClick r:id="rId3"/>
            </a:endParaRPr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trongnhanle@hcmut.edu.vn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trongnhanle85@gmail.com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88077" y="5504481"/>
            <a:ext cx="3444900" cy="749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LÊ TRỌNG NHÂN</a:t>
            </a:r>
            <a:endParaRPr b="1" i="0" sz="3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erything You Need to Know About Microcontrollers | RS Components" id="111" name="Google Shape;11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5961" y="4278876"/>
            <a:ext cx="4568039" cy="257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uide for selecting the right microcontroller for your IoT project – IIoT  World" id="112" name="Google Shape;112;p1"/>
          <p:cNvPicPr preferRelativeResize="0"/>
          <p:nvPr/>
        </p:nvPicPr>
        <p:blipFill rotWithShape="1">
          <a:blip r:embed="rId7">
            <a:alphaModFix/>
          </a:blip>
          <a:srcRect b="12277" l="0" r="0" t="19720"/>
          <a:stretch/>
        </p:blipFill>
        <p:spPr>
          <a:xfrm>
            <a:off x="-120" y="3974076"/>
            <a:ext cx="4576081" cy="153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An interrupt is a communication process set up in a microcontroller  (and also in a microprocessor) in which: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An internal or external device requests the MPU to stop the processing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The MPU acknowledges the request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Goes back to the processing when the request is served</a:t>
            </a:r>
            <a:endParaRPr/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Basic Concepts in Interrupts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When the interrupt process is enabled, the MPU, during in the execution, checks the interrupt flag just before the end of each instruction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If the interrupt request is requested, the MPU: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Completes the execution of the instruction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Save the address of the program counter (PC) on the stack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Stops the execution</a:t>
            </a:r>
            <a:endParaRPr/>
          </a:p>
        </p:txBody>
      </p:sp>
      <p:sp>
        <p:nvSpPr>
          <p:cNvPr id="124" name="Google Shape;124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MPU Response to Interrupts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set of instructions written to meet the request is called an interrupt service routine (ISR)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Once the request is accomplished, the MPU should find its way back to the instruction, next memory location where it was interrupted: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Accomplished by a specific return instruction (RETI)</a:t>
            </a:r>
            <a:endParaRPr/>
          </a:p>
        </p:txBody>
      </p:sp>
      <p:sp>
        <p:nvSpPr>
          <p:cNvPr id="130" name="Google Shape;130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MPU Response to Interrupts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Define memory location where a specific memory location is assigned to the interrupt request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Define vector location where specific memory locations assign to the store the vector addresses of the ISRs</a:t>
            </a:r>
            <a:endParaRPr/>
          </a:p>
        </p:txBody>
      </p:sp>
      <p:sp>
        <p:nvSpPr>
          <p:cNvPr id="136" name="Google Shape;136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Interrupt Vectors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 group of instructions that accomplishes the task requested by the interrupting source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Similar to a subroutine except that the ISR must be terminated in a RETURN instruction specially designed for interrupts (e.g. RETI):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The return instruction, when executed, find the return address on the stack and redirects the program execution where the program was interrupted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Some return instructions are design to retrieve the contents of MPU registers if saved as a part of the interrupts</a:t>
            </a:r>
            <a:endParaRPr/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Interrupt Service Routine (ISR)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Reset is an external signal that enables the MPU to begin execution or interrupts the processor if the processor is executing instructions.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There are at least two types of resets: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Power on reset and manual reset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When the reset signal is activated, it establishes the initial conditions of the processor and directs the processor to a specific starting memory location</a:t>
            </a:r>
            <a:endParaRPr/>
          </a:p>
        </p:txBody>
      </p:sp>
      <p:sp>
        <p:nvSpPr>
          <p:cNvPr id="148" name="Google Shape;148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Reset Interrupt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38529" y="5022761"/>
            <a:ext cx="90102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09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Interrupt Priority</a:t>
            </a:r>
            <a:endParaRPr/>
          </a:p>
        </p:txBody>
      </p:sp>
      <p:pic>
        <p:nvPicPr>
          <p:cNvPr descr="Một số lỗi thường gặp khi sử dụng ngắt trong lập trình nhúng - TAPIT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19" y="1685502"/>
            <a:ext cx="7153275" cy="287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Hardware interrupts: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Maskable: Can be masked or disabled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Non-maskable: Cannot be disabled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External and Internal interrupts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Software interrupts: generally used when the situation requires stop processing and start all over: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Divide by zero or stack overflow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Generally, MPUs do not include software interrupts</a:t>
            </a:r>
            <a:endParaRPr/>
          </a:p>
        </p:txBody>
      </p:sp>
      <p:sp>
        <p:nvSpPr>
          <p:cNvPr id="161" name="Google Shape;161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Types of Interrupts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09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Timer Interrupt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