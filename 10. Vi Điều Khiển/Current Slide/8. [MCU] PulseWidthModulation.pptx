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10"/>
  </p:notesMasterIdLst>
  <p:handoutMasterIdLst>
    <p:handoutMasterId r:id="rId11"/>
  </p:handoutMasterIdLst>
  <p:sldIdLst>
    <p:sldId id="304" r:id="rId3"/>
    <p:sldId id="305" r:id="rId4"/>
    <p:sldId id="308" r:id="rId5"/>
    <p:sldId id="309" r:id="rId6"/>
    <p:sldId id="310" r:id="rId7"/>
    <p:sldId id="311" r:id="rId8"/>
    <p:sldId id="312" r:id="rId9"/>
  </p:sldIdLst>
  <p:sldSz cx="9144000" cy="6858000" type="screen4x3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24" autoAdjust="0"/>
    <p:restoredTop sz="89911" autoAdjust="0"/>
  </p:normalViewPr>
  <p:slideViewPr>
    <p:cSldViewPr snapToGrid="0">
      <p:cViewPr varScale="1">
        <p:scale>
          <a:sx n="89" d="100"/>
          <a:sy n="89" d="100"/>
        </p:scale>
        <p:origin x="883" y="29"/>
      </p:cViewPr>
      <p:guideLst>
        <p:guide orient="horz" pos="2160"/>
        <p:guide pos="3840"/>
        <p:guide pos="7296"/>
        <p:guide orient="horz" pos="4128"/>
        <p:guide pos="2880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6"/>
    </p:cViewPr>
  </p:sorterViewPr>
  <p:notesViewPr>
    <p:cSldViewPr snapToGrid="0" showGuides="1">
      <p:cViewPr>
        <p:scale>
          <a:sx n="200" d="100"/>
          <a:sy n="200" d="100"/>
        </p:scale>
        <p:origin x="276" y="-19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68796EA6-6F25-4F19-87BA-7ADCC16DAEFF}" type="datetimeFigureOut">
              <a:rPr lang="en-US" smtClean="0"/>
              <a:t>11/23/2022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C39C172E-A8B5-46F6-B05C-DFA3E2E0F207}" type="datetimeFigureOut">
              <a:rPr lang="en-US" smtClean="0"/>
              <a:t>11/23/2022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3750" cy="3452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07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hcmut.edu.vn/~anhpham" TargetMode="External"/><Relationship Id="rId2" Type="http://schemas.openxmlformats.org/officeDocument/2006/relationships/hyperlink" Target="mailto:anhpham@cse.hcmut.edu.vn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4" y="3810004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49495" y="3889662"/>
            <a:ext cx="4953000" cy="1752600"/>
          </a:xfrm>
        </p:spPr>
        <p:txBody>
          <a:bodyPr/>
          <a:lstStyle>
            <a:lvl1pPr marL="64006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6378" y="2401891"/>
            <a:ext cx="8458200" cy="1081307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529" y="1283517"/>
            <a:ext cx="9010221" cy="5436758"/>
          </a:xfrm>
        </p:spPr>
        <p:txBody>
          <a:bodyPr>
            <a:normAutofit/>
          </a:bodyPr>
          <a:lstStyle>
            <a:lvl1pPr marL="365751" indent="-256026">
              <a:buFont typeface="Wingdings" panose="05000000000000000000" pitchFamily="2" charset="2"/>
              <a:buChar char="§"/>
              <a:defRPr sz="26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just">
              <a:defRPr sz="24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 dirty="0" smtClean="0"/>
              <a:t>General Information</a:t>
            </a:r>
          </a:p>
          <a:p>
            <a:pPr lvl="1" eaLnBrk="1" latinLnBrk="0" hangingPunct="1"/>
            <a:r>
              <a:rPr lang="en-US" dirty="0" smtClean="0"/>
              <a:t>CSE 504003</a:t>
            </a:r>
          </a:p>
          <a:p>
            <a:pPr lvl="1" eaLnBrk="1" latinLnBrk="0" hangingPunct="1"/>
            <a:r>
              <a:rPr lang="en-US" dirty="0" smtClean="0"/>
              <a:t>3 credits</a:t>
            </a:r>
          </a:p>
          <a:p>
            <a:pPr lvl="1" eaLnBrk="1" latinLnBrk="0" hangingPunct="1"/>
            <a:endParaRPr lang="en-US" dirty="0" smtClean="0"/>
          </a:p>
          <a:p>
            <a:pPr lvl="0" eaLnBrk="1" latinLnBrk="0" hangingPunct="1"/>
            <a:r>
              <a:rPr lang="en-US" dirty="0" smtClean="0"/>
              <a:t>Coordinator </a:t>
            </a:r>
          </a:p>
          <a:p>
            <a:pPr lvl="1"/>
            <a:r>
              <a:rPr lang="en-US" dirty="0" smtClean="0"/>
              <a:t>Pham Hoang </a:t>
            </a:r>
            <a:r>
              <a:rPr lang="en-US" dirty="0" err="1" smtClean="0"/>
              <a:t>Anh</a:t>
            </a:r>
            <a:endParaRPr lang="en-US" dirty="0" smtClean="0"/>
          </a:p>
          <a:p>
            <a:pPr lvl="1"/>
            <a:r>
              <a:rPr lang="en-US" dirty="0" smtClean="0"/>
              <a:t>Dept. Computer Engineering, Faculty of Computer Science and Engineering, HCMC Uni. Of Technology </a:t>
            </a:r>
          </a:p>
          <a:p>
            <a:pPr lvl="1"/>
            <a:r>
              <a:rPr lang="en-US" dirty="0" smtClean="0"/>
              <a:t>Email: </a:t>
            </a:r>
            <a:r>
              <a:rPr lang="en-US" dirty="0" smtClean="0">
                <a:hlinkClick r:id="rId2"/>
              </a:rPr>
              <a:t>anhpham@cse.hcmut.edu.vn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Phone: (08)38647256 (Ext. 5843)</a:t>
            </a:r>
          </a:p>
          <a:p>
            <a:pPr lvl="1"/>
            <a:r>
              <a:rPr lang="en-US" dirty="0" smtClean="0"/>
              <a:t>Homepage: </a:t>
            </a:r>
            <a:r>
              <a:rPr lang="en-US" dirty="0" smtClean="0">
                <a:hlinkClick r:id="rId3"/>
              </a:rPr>
              <a:t>www.cse.hcmut.edu.vn/~anhpham</a:t>
            </a:r>
            <a:r>
              <a:rPr lang="en-US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Century Gothic" pitchFamily="34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40262010-AD51-4252-9881-6947E88E89FD}" type="slidenum">
              <a:rPr lang="en-US" sz="1200" b="1" smtClean="0">
                <a:solidFill>
                  <a:schemeClr val="accent6">
                    <a:lumMod val="75000"/>
                  </a:schemeClr>
                </a:solidFill>
                <a:latin typeface="Century Gothic" pitchFamily="34" charset="0"/>
              </a:rPr>
              <a:pPr algn="ctr"/>
              <a:t>‹#›</a:t>
            </a:fld>
            <a:endParaRPr lang="en-US" sz="1200" b="1" dirty="0">
              <a:solidFill>
                <a:schemeClr val="accent6">
                  <a:lumMod val="75000"/>
                </a:schemeClr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19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4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6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7" y="2244970"/>
            <a:ext cx="4041775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90"/>
            <a:ext cx="5102352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30"/>
            <a:ext cx="338328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12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6" y="1109162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483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483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4" y="36025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20F09E4-6EA4-4BF3-9FC8-FF40373B88E6}" type="datetime1">
              <a:rPr lang="en-US" smtClean="0"/>
              <a:t>11/23/2022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51" indent="-256026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52" indent="-246882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21" indent="-219451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47" indent="-201163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53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0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75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17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2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988" y="535715"/>
            <a:ext cx="8650783" cy="251164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P</a:t>
            </a:r>
            <a:r>
              <a:rPr lang="en-US" dirty="0" smtClean="0"/>
              <a:t>ulse </a:t>
            </a:r>
            <a:r>
              <a:rPr lang="en-US" b="1" dirty="0" smtClean="0"/>
              <a:t>W</a:t>
            </a:r>
            <a:r>
              <a:rPr lang="en-US" dirty="0" smtClean="0"/>
              <a:t>idth</a:t>
            </a:r>
            <a:r>
              <a:rPr lang="en-US" dirty="0"/>
              <a:t> </a:t>
            </a:r>
            <a:r>
              <a:rPr lang="en-US" b="1" dirty="0" smtClean="0"/>
              <a:t>M</a:t>
            </a:r>
            <a:r>
              <a:rPr lang="en-US" dirty="0" smtClean="0"/>
              <a:t>odulation (PWM)</a:t>
            </a:r>
            <a:endParaRPr lang="en-US" dirty="0"/>
          </a:p>
        </p:txBody>
      </p:sp>
      <p:pic>
        <p:nvPicPr>
          <p:cNvPr id="1026" name="Picture 2" descr="Introduction to PWM - Pulse width modulation typ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88" y="4071757"/>
            <a:ext cx="3421003" cy="260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roduction to PWM - Pulse width modulation typ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415" y="4312560"/>
            <a:ext cx="4959591" cy="236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5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1224795"/>
            <a:ext cx="9010221" cy="5495480"/>
          </a:xfrm>
        </p:spPr>
        <p:txBody>
          <a:bodyPr>
            <a:normAutofit/>
          </a:bodyPr>
          <a:lstStyle/>
          <a:p>
            <a:r>
              <a:rPr lang="en-US" dirty="0"/>
              <a:t>Pulse </a:t>
            </a:r>
            <a:r>
              <a:rPr lang="en-US" dirty="0"/>
              <a:t>W</a:t>
            </a:r>
            <a:r>
              <a:rPr lang="en-US" dirty="0" smtClean="0"/>
              <a:t>idth Modulation (PWM) </a:t>
            </a:r>
            <a:r>
              <a:rPr lang="en-US" dirty="0"/>
              <a:t>has many application in digital communication </a:t>
            </a:r>
            <a:r>
              <a:rPr lang="en-US" dirty="0" smtClean="0"/>
              <a:t>and </a:t>
            </a:r>
            <a:r>
              <a:rPr lang="en-US" dirty="0"/>
              <a:t>power </a:t>
            </a:r>
            <a:r>
              <a:rPr lang="en-US" dirty="0" smtClean="0"/>
              <a:t>electronics:</a:t>
            </a:r>
          </a:p>
          <a:p>
            <a:pPr lvl="1"/>
            <a:r>
              <a:rPr lang="en-US" b="1" dirty="0"/>
              <a:t>I</a:t>
            </a:r>
            <a:r>
              <a:rPr lang="en-US" b="1" dirty="0" smtClean="0"/>
              <a:t>ntensity </a:t>
            </a:r>
            <a:r>
              <a:rPr lang="en-US" b="1" dirty="0"/>
              <a:t>control </a:t>
            </a:r>
            <a:r>
              <a:rPr lang="en-US" dirty="0"/>
              <a:t>of street lights, </a:t>
            </a:r>
            <a:r>
              <a:rPr lang="en-US" b="1" dirty="0"/>
              <a:t>speed control </a:t>
            </a:r>
            <a:r>
              <a:rPr lang="en-US" dirty="0"/>
              <a:t>of dc motor </a:t>
            </a:r>
            <a:endParaRPr lang="en-US" dirty="0" smtClean="0"/>
          </a:p>
          <a:p>
            <a:pPr lvl="1"/>
            <a:r>
              <a:rPr lang="en-US" dirty="0" smtClean="0"/>
              <a:t>PWM is used to </a:t>
            </a:r>
            <a:r>
              <a:rPr lang="en-US" dirty="0"/>
              <a:t>generate analog signal from digital signals, </a:t>
            </a:r>
            <a:r>
              <a:rPr lang="en-US" b="1" dirty="0"/>
              <a:t>digital to analog converter</a:t>
            </a:r>
            <a:r>
              <a:rPr lang="en-US" dirty="0"/>
              <a:t>.</a:t>
            </a:r>
            <a:r>
              <a:rPr lang="en-US" b="1" dirty="0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4052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5741043"/>
            <a:ext cx="9010221" cy="979232"/>
          </a:xfrm>
        </p:spPr>
        <p:txBody>
          <a:bodyPr/>
          <a:lstStyle/>
          <a:p>
            <a:r>
              <a:rPr lang="en-US" dirty="0" smtClean="0"/>
              <a:t>All waves have the </a:t>
            </a:r>
            <a:r>
              <a:rPr lang="en-US" b="1" dirty="0" smtClean="0"/>
              <a:t>same frequency </a:t>
            </a:r>
            <a:r>
              <a:rPr lang="en-US" dirty="0" smtClean="0"/>
              <a:t>but </a:t>
            </a:r>
            <a:r>
              <a:rPr lang="en-US" b="1" dirty="0" smtClean="0">
                <a:solidFill>
                  <a:srgbClr val="FF0000"/>
                </a:solidFill>
              </a:rPr>
              <a:t>different duty-cycle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Frequency and Duty Cycle</a:t>
            </a:r>
            <a:endParaRPr lang="en-US" dirty="0"/>
          </a:p>
        </p:txBody>
      </p:sp>
      <p:pic>
        <p:nvPicPr>
          <p:cNvPr id="2050" name="Picture 2" descr="PWM pulse width mod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561" y="1371719"/>
            <a:ext cx="6045882" cy="414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439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5671595"/>
            <a:ext cx="9010221" cy="1048680"/>
          </a:xfrm>
        </p:spPr>
        <p:txBody>
          <a:bodyPr/>
          <a:lstStyle/>
          <a:p>
            <a:r>
              <a:rPr lang="en-US" dirty="0" smtClean="0"/>
              <a:t>50% duty cycle generates 2.5V at the output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074" name="Picture 2" descr="PWM amplitu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73" y="1458293"/>
            <a:ext cx="7412931" cy="353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329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529" y="5567423"/>
            <a:ext cx="9010221" cy="1152851"/>
          </a:xfrm>
        </p:spPr>
        <p:txBody>
          <a:bodyPr/>
          <a:lstStyle/>
          <a:p>
            <a:r>
              <a:rPr lang="en-US" dirty="0" smtClean="0"/>
              <a:t>Software based programming</a:t>
            </a:r>
          </a:p>
          <a:p>
            <a:r>
              <a:rPr lang="en-US" dirty="0" smtClean="0"/>
              <a:t>Hardware based timer counter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PWM generator in MCU</a:t>
            </a:r>
            <a:endParaRPr lang="en-US" dirty="0"/>
          </a:p>
        </p:txBody>
      </p:sp>
      <p:pic>
        <p:nvPicPr>
          <p:cNvPr id="4098" name="Picture 2" descr="Pulse-width Modulation (PWM) Timers in Microcontrollers - Technical Artic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75" y="1328967"/>
            <a:ext cx="8494740" cy="341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392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28788" y="1823714"/>
            <a:ext cx="3501567" cy="3756690"/>
          </a:xfrm>
        </p:spPr>
        <p:txBody>
          <a:bodyPr>
            <a:normAutofit/>
          </a:bodyPr>
          <a:lstStyle/>
          <a:p>
            <a:r>
              <a:rPr lang="en-US" dirty="0" smtClean="0"/>
              <a:t>TIM3 – Channel 1</a:t>
            </a:r>
          </a:p>
          <a:p>
            <a:r>
              <a:rPr lang="en-US" dirty="0" smtClean="0"/>
              <a:t>Frequency = 1kHz</a:t>
            </a:r>
          </a:p>
          <a:p>
            <a:pPr lvl="1"/>
            <a:r>
              <a:rPr lang="en-US" dirty="0" smtClean="0"/>
              <a:t>64MHz </a:t>
            </a:r>
            <a:r>
              <a:rPr lang="en-US" dirty="0" smtClean="0">
                <a:sym typeface="Wingdings" panose="05000000000000000000" pitchFamily="2" charset="2"/>
              </a:rPr>
              <a:t> 1Mhz  1kHz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PA6 is the output of TIM3-CH1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PWM Configuration in STM32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875" t="10222" r="38500" b="7333"/>
          <a:stretch/>
        </p:blipFill>
        <p:spPr>
          <a:xfrm>
            <a:off x="251460" y="1394460"/>
            <a:ext cx="5177328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04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PWM Programming in STM32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6553" y="1449140"/>
            <a:ext cx="8852198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HAL_TIM_PWM_Start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(&amp;htim3, TIM_CHANNEL_1);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(1)</a:t>
            </a: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__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HAL_TIM_SetCompare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(&amp;htim3,TIM_CHANNEL_1,10);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HAL_Delay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(1000);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__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HAL_TIM_SetCompare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(&amp;htim3,TIM_CHANNEL_1,100);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HAL_Delay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(1000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18961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" id="{9308F140-5CDC-477D-BC4D-9C1906451284}" vid="{11C5112C-663B-4E6D-9D3D-2361F8FA32D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D44557-C150-4AA7-97B1-62E8021520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0</TotalTime>
  <Words>135</Words>
  <Application>Microsoft Office PowerPoint</Application>
  <PresentationFormat>On-screen Show (4:3)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Century Gothic</vt:lpstr>
      <vt:lpstr>Consolas</vt:lpstr>
      <vt:lpstr>Georgia</vt:lpstr>
      <vt:lpstr>Impact</vt:lpstr>
      <vt:lpstr>Tahoma</vt:lpstr>
      <vt:lpstr>Wingdings</vt:lpstr>
      <vt:lpstr>Wingdings 2</vt:lpstr>
      <vt:lpstr>Training presentation</vt:lpstr>
      <vt:lpstr>Pulse Width Modulation (PWM)</vt:lpstr>
      <vt:lpstr>Introduction</vt:lpstr>
      <vt:lpstr>Frequency and Duty Cycle</vt:lpstr>
      <vt:lpstr>Example</vt:lpstr>
      <vt:lpstr>PWM generator in MCU</vt:lpstr>
      <vt:lpstr>PWM Configuration in STM32</vt:lpstr>
      <vt:lpstr>PWM Programming in STM32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2014-07-29T03:47:45Z</dcterms:created>
  <dcterms:modified xsi:type="dcterms:W3CDTF">2022-11-23T04:50:38Z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