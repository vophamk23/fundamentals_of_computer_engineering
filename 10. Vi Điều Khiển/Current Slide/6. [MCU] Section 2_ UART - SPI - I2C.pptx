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7102475" cy="10233025"/>
  <p:embeddedFontLst>
    <p:embeddedFont>
      <p:font typeface="Tahoma"/>
      <p:regular r:id="rId17"/>
      <p:bold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bHf6r8VSkTBcPFWDtBhXSKovN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A86BCE-10E0-44C3-82A6-9169CBC8DCF6}">
  <a:tblStyle styleId="{ACA86BCE-10E0-44C3-82A6-9169CBC8DCF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4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2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2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2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392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2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2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392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2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2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2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2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2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/>
        </p:nvSpPr>
        <p:spPr>
          <a:xfrm>
            <a:off x="0" y="16778"/>
            <a:ext cx="62488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CO3037 – </a:t>
            </a:r>
            <a:r>
              <a:rPr b="1" i="1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 3: Device Driver for Embedded Internet of Things (IoTs) Platforms</a:t>
            </a:r>
            <a:endParaRPr b="1" i="1" sz="1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33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200" u="none" cap="none" strike="noStrik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4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3921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3921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9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3921"/>
              </a:srgbClr>
            </a:outerShdw>
          </a:effectLst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42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1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1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1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1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1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1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1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1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1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1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Universal_asynchronous_receiver/transmitter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developer.android.com/things/sdk/pio/i2c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Section 2: UART - SPI - I2C</a:t>
            </a:r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2839" r="-2839" t="0"/>
          <a:stretch/>
        </p:blipFill>
        <p:spPr>
          <a:xfrm>
            <a:off x="233800" y="3966772"/>
            <a:ext cx="4854373" cy="307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3775" y="4361650"/>
            <a:ext cx="3131481" cy="25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most popular connection in hardware devices</a:t>
            </a:r>
            <a:endParaRPr/>
          </a:p>
        </p:txBody>
      </p:sp>
      <p:sp>
        <p:nvSpPr>
          <p:cNvPr id="117" name="Google Shape;117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UART</a:t>
            </a:r>
            <a:endParaRPr/>
          </a:p>
        </p:txBody>
      </p:sp>
      <p:pic>
        <p:nvPicPr>
          <p:cNvPr descr="Image result for uart communication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25" y="1975268"/>
            <a:ext cx="3752214" cy="183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tion to UART - Packet, Frame, and Bits"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7856" y="2135685"/>
            <a:ext cx="3615816" cy="1615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art communication diagram" id="120" name="Google Shape;1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639" y="4154031"/>
            <a:ext cx="4438763" cy="14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345443" y="4688274"/>
            <a:ext cx="413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UART vs USART</a:t>
            </a:r>
            <a:endParaRPr b="1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UART stands for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Universal Asynchronous Receiver Transmitter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It is </a:t>
            </a:r>
            <a:r>
              <a:rPr b="1" i="1" lang="en-US"/>
              <a:t>universal</a:t>
            </a:r>
            <a:r>
              <a:rPr lang="en-US"/>
              <a:t> because both the data transfer speed and data byte format are configurable.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It is </a:t>
            </a:r>
            <a:r>
              <a:rPr b="1" i="1" lang="en-US"/>
              <a:t>asynchronous</a:t>
            </a:r>
            <a:r>
              <a:rPr lang="en-US"/>
              <a:t> in that there are no clock signals present to synchronize the data transfer between the two devices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UART data transfer is </a:t>
            </a:r>
            <a:r>
              <a:rPr b="1" i="1" lang="en-US"/>
              <a:t>full-duplex</a:t>
            </a:r>
            <a:r>
              <a:rPr lang="en-US"/>
              <a:t>, meaning data can be sent and received at the same time</a:t>
            </a:r>
            <a:endParaRPr/>
          </a:p>
        </p:txBody>
      </p:sp>
      <p:sp>
        <p:nvSpPr>
          <p:cNvPr id="127" name="Google Shape;127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UART Device Driver on Android Things</a:t>
            </a:r>
            <a:endParaRPr/>
          </a:p>
        </p:txBody>
      </p:sp>
      <p:pic>
        <p:nvPicPr>
          <p:cNvPr descr="&quot;uart-connections&quot;" id="128" name="Google Shape;1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301" y="5192077"/>
            <a:ext cx="7686675" cy="133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S</a:t>
            </a:r>
            <a:r>
              <a:rPr lang="en-US"/>
              <a:t>erial </a:t>
            </a:r>
            <a:r>
              <a:rPr b="1" lang="en-US"/>
              <a:t>P</a:t>
            </a:r>
            <a:r>
              <a:rPr lang="en-US"/>
              <a:t>eripheral </a:t>
            </a:r>
            <a:r>
              <a:rPr b="1" lang="en-US"/>
              <a:t>I</a:t>
            </a:r>
            <a:r>
              <a:rPr lang="en-US"/>
              <a:t>nterface (SPI) is an interface bus commonly used to send data between </a:t>
            </a:r>
            <a:r>
              <a:rPr b="1" lang="en-US"/>
              <a:t>microcontrollers</a:t>
            </a:r>
            <a:r>
              <a:rPr lang="en-US"/>
              <a:t> and small peripherals such as shift </a:t>
            </a:r>
            <a:r>
              <a:rPr b="1" lang="en-US"/>
              <a:t>registers, sensors, and SD cards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1"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Separate clock (SCK), data lines (MISO, MOSI) and chip select (CS) are used.</a:t>
            </a:r>
            <a:endParaRPr/>
          </a:p>
          <a:p>
            <a:pPr indent="-909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Synchronous protocol</a:t>
            </a:r>
            <a:endParaRPr/>
          </a:p>
        </p:txBody>
      </p:sp>
      <p:sp>
        <p:nvSpPr>
          <p:cNvPr id="134" name="Google Shape;134;p1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SPI</a:t>
            </a:r>
            <a:endParaRPr/>
          </a:p>
        </p:txBody>
      </p:sp>
      <p:pic>
        <p:nvPicPr>
          <p:cNvPr descr="Image result for SPI connection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3185" y="4094363"/>
            <a:ext cx="4420243" cy="268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38529" y="5717893"/>
            <a:ext cx="9010221" cy="1002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Clock is generated by the master</a:t>
            </a:r>
            <a:endParaRPr b="1"/>
          </a:p>
        </p:txBody>
      </p:sp>
      <p:sp>
        <p:nvSpPr>
          <p:cNvPr id="141" name="Google Shape;141;p1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SPI Protocol</a:t>
            </a:r>
            <a:endParaRPr/>
          </a:p>
        </p:txBody>
      </p:sp>
      <p:pic>
        <p:nvPicPr>
          <p:cNvPr descr="alt text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542" y="1143771"/>
            <a:ext cx="5285999" cy="44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235299" y="4109013"/>
            <a:ext cx="9010221" cy="240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START condition and controls the clock (SCL)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a unique 7-bit slave address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Read/Write bit: 0 write to slave, 1: read from slave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Slave which address is matched send ACK bit</a:t>
            </a:r>
            <a:endParaRPr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Data (8bit) is transfered</a:t>
            </a:r>
            <a:endParaRPr sz="2400"/>
          </a:p>
        </p:txBody>
      </p:sp>
      <p:sp>
        <p:nvSpPr>
          <p:cNvPr id="148" name="Google Shape;148;p2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I2C Protocol</a:t>
            </a:r>
            <a:endParaRPr/>
          </a:p>
        </p:txBody>
      </p:sp>
      <p:pic>
        <p:nvPicPr>
          <p:cNvPr descr="Image result for I2C protocol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251" y="1094361"/>
            <a:ext cx="6838950" cy="272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I2C is a </a:t>
            </a:r>
            <a:r>
              <a:rPr b="1" i="1" lang="en-US"/>
              <a:t>synchronous</a:t>
            </a:r>
            <a:r>
              <a:rPr lang="en-US"/>
              <a:t> serial interface. The device in control of triggering the clock signal is known as the </a:t>
            </a:r>
            <a:r>
              <a:rPr b="1" i="1" lang="en-US"/>
              <a:t>master</a:t>
            </a:r>
            <a:r>
              <a:rPr lang="en-US"/>
              <a:t>. All other connected peripherals are known as </a:t>
            </a:r>
            <a:r>
              <a:rPr b="1" i="1" lang="en-US"/>
              <a:t>slaves</a:t>
            </a:r>
            <a:r>
              <a:rPr lang="en-US"/>
              <a:t>. Each device is connected to the same set of data signals to form a </a:t>
            </a:r>
            <a:r>
              <a:rPr b="1" i="1" lang="en-US"/>
              <a:t>bus</a:t>
            </a:r>
            <a:r>
              <a:rPr lang="en-US"/>
              <a:t>.</a:t>
            </a:r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I2C</a:t>
            </a:r>
            <a:endParaRPr/>
          </a:p>
        </p:txBody>
      </p:sp>
      <p:pic>
        <p:nvPicPr>
          <p:cNvPr descr="I2C-connections" id="156" name="Google Shape;1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85" y="3435322"/>
            <a:ext cx="8048625" cy="311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/>
          <p:nvPr/>
        </p:nvSpPr>
        <p:spPr>
          <a:xfrm>
            <a:off x="399045" y="5519946"/>
            <a:ext cx="31078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https://developer.android.com/things/sdk/pio/i2c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8529" y="5578997"/>
            <a:ext cx="9010221" cy="1141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6025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UART = Universal Asynchronous Receiver / Transmitter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= Serial Peripheral Interface</a:t>
            </a:r>
            <a:endParaRPr/>
          </a:p>
          <a:p>
            <a:pPr indent="-256025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 = Inter-Integrated Circuit</a:t>
            </a:r>
            <a:endParaRPr/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descr="UART, SPI, I2C image" id="164" name="Google Shape;1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352" y="1396858"/>
            <a:ext cx="5458950" cy="378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29"/>
          <p:cNvGraphicFramePr/>
          <p:nvPr/>
        </p:nvGraphicFramePr>
        <p:xfrm>
          <a:off x="1203766" y="112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{ACA86BCE-10E0-44C3-82A6-9169CBC8DCF6}</a:tableStyleId>
              </a:tblPr>
              <a:tblGrid>
                <a:gridCol w="2199200"/>
                <a:gridCol w="2199200"/>
                <a:gridCol w="2199200"/>
              </a:tblGrid>
              <a:tr h="38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Function</a:t>
                      </a:r>
                      <a:endParaRPr sz="1400" u="none" cap="none" strike="noStrike"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2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I</a:t>
                      </a:r>
                      <a:r>
                        <a:rPr b="1" baseline="30000" lang="en-US" sz="2000" u="none" cap="none" strike="noStrike"/>
                        <a:t>2</a:t>
                      </a:r>
                      <a:r>
                        <a:rPr b="1" lang="en-US" sz="2000" u="none" cap="none" strike="noStrike"/>
                        <a:t>C</a:t>
                      </a:r>
                      <a:endParaRPr sz="20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Inter-Integrated Circuit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Half duplex, serial data transmission used for short-distance between boards, modules and peripherals. Uses 2 pins.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SPI</a:t>
                      </a:r>
                      <a:endParaRPr sz="20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Serial Peripheral Interface bus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Full-duplex, serial data transmission used for short-distance between devices. Uses 4 pins.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UART</a:t>
                      </a:r>
                      <a:endParaRPr sz="20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Universal Asynchronous Receiver-Transmitter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Full-duplex, Asynchronous, serial data transmission between devices. Uses 2 pins.</a:t>
                      </a:r>
                      <a:endParaRPr sz="1400" u="none" cap="none" strike="noStrike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Communications Methods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UART</a:t>
            </a:r>
            <a:r>
              <a:rPr lang="en-US"/>
              <a:t> - simple; not high speed; no clock needed; limited to one device, but </a:t>
            </a:r>
            <a:r>
              <a:rPr b="1" lang="en-US"/>
              <a:t>long range communication</a:t>
            </a:r>
            <a:endParaRPr b="1"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b="1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I2C</a:t>
            </a:r>
            <a:r>
              <a:rPr lang="en-US"/>
              <a:t> - faster than UART, but not as fast as SPI; easier to chain many devices; Pi drives the clock so no sync issues.</a:t>
            </a:r>
            <a:endParaRPr/>
          </a:p>
          <a:p>
            <a:pPr indent="-909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b="1"/>
          </a:p>
          <a:p>
            <a:pPr indent="-256026" lvl="0" marL="365751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SPI</a:t>
            </a:r>
            <a:r>
              <a:rPr lang="en-US"/>
              <a:t> - fastest of the three; Pi drives the clock so no sync issues; practical limit to number of devices on the Pi.</a:t>
            </a:r>
            <a:br>
              <a:rPr lang="en-US"/>
            </a:br>
            <a:endParaRPr/>
          </a:p>
        </p:txBody>
      </p:sp>
      <p:sp>
        <p:nvSpPr>
          <p:cNvPr id="176" name="Google Shape;176;p3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