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7102475" cy="10233025"/>
  <p:embeddedFontLst>
    <p:embeddedFont>
      <p:font typeface="Tahoma"/>
      <p:regular r:id="rId21"/>
      <p:bold r:id="rId22"/>
    </p:embeddedFon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xYMF1Jh2X/VLz27UfUCuRDPBX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Tahoma-bold.fntdata"/><Relationship Id="rId21" Type="http://schemas.openxmlformats.org/officeDocument/2006/relationships/font" Target="fonts/Tahoma-regular.fntdata"/><Relationship Id="rId24" Type="http://schemas.openxmlformats.org/officeDocument/2006/relationships/font" Target="fonts/CenturyGothic-bold.fntdata"/><Relationship Id="rId23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boldItalic.fntdata"/><Relationship Id="rId25" Type="http://schemas.openxmlformats.org/officeDocument/2006/relationships/font" Target="fonts/CenturyGothic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c31944463_3_0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27c31944463_3_0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7c31944463_3_0:notes"/>
          <p:cNvSpPr txBox="1"/>
          <p:nvPr>
            <p:ph idx="12" type="sldNum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6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6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6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6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6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6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6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6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6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6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i="0" sz="1200" u="none" cap="none" strike="noStrike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2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4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6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5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5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5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5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5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5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5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5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5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5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trongnhanle@hcmut.edu.vn" TargetMode="External"/><Relationship Id="rId4" Type="http://schemas.openxmlformats.org/officeDocument/2006/relationships/hyperlink" Target="mailto:trongnhanle@hcmut.edu.vn" TargetMode="External"/><Relationship Id="rId5" Type="http://schemas.openxmlformats.org/officeDocument/2006/relationships/hyperlink" Target="mailto:trongnhanle85@gmail.com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mbetronicx.com/tutorials/tech_devices/understanding-the-microcontroller-gpio-gpio-working-explained/#High-impedance" TargetMode="External"/><Relationship Id="rId4" Type="http://schemas.openxmlformats.org/officeDocument/2006/relationships/hyperlink" Target="https://embetronicx.com/tutorials/tech_devices/understanding-the-microcontroller-gpio-gpio-working-explained/#Pull-up" TargetMode="External"/><Relationship Id="rId5" Type="http://schemas.openxmlformats.org/officeDocument/2006/relationships/hyperlink" Target="https://embetronicx.com/tutorials/tech_devices/understanding-the-microcontroller-gpio-gpio-working-explained/#Pull-dow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mbetronicx.com/tutorials/tech_devices/understanding-the-microcontroller-gpio-gpio-working-explained/#Push-pull" TargetMode="External"/><Relationship Id="rId4" Type="http://schemas.openxmlformats.org/officeDocument/2006/relationships/hyperlink" Target="https://embetronicx.com/tutorials/tech_devices/understanding-the-microcontroller-gpio-gpio-working-explained/#Open-drain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Open_collector" TargetMode="External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youtube.com/watch?v=ZuBKAAFxjgk" TargetMode="External"/><Relationship Id="rId4" Type="http://schemas.openxmlformats.org/officeDocument/2006/relationships/hyperlink" Target="https://www.youtube.com/watch?v=b5K0uxedVDw" TargetMode="External"/><Relationship Id="rId5" Type="http://schemas.openxmlformats.org/officeDocument/2006/relationships/hyperlink" Target="https://www.youtube.com/watch?v=b5K0uxedVDw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Microcontroller GPIO</a:t>
            </a:r>
            <a:endParaRPr/>
          </a:p>
        </p:txBody>
      </p:sp>
      <p:sp>
        <p:nvSpPr>
          <p:cNvPr id="109" name="Google Shape;109;p1"/>
          <p:cNvSpPr txBox="1"/>
          <p:nvPr>
            <p:ph idx="1" type="subTitle"/>
          </p:nvPr>
        </p:nvSpPr>
        <p:spPr>
          <a:xfrm>
            <a:off x="42892" y="6073587"/>
            <a:ext cx="4253134" cy="784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64006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u="sng">
              <a:solidFill>
                <a:schemeClr val="hlink"/>
              </a:solidFill>
              <a:hlinkClick r:id="rId3"/>
            </a:endParaRPr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trongnhanle@hcmut.edu.vn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trongnhanle85@gmail.com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88077" y="5504481"/>
            <a:ext cx="3444900" cy="7496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LÊ TRỌNG NHÂN</a:t>
            </a:r>
            <a:endParaRPr b="1" i="0" sz="30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6">
            <a:alphaModFix/>
          </a:blip>
          <a:srcRect b="0" l="5793" r="0" t="11261"/>
          <a:stretch/>
        </p:blipFill>
        <p:spPr>
          <a:xfrm>
            <a:off x="3022900" y="4007715"/>
            <a:ext cx="5628898" cy="24993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ột số khái niệm căn bản về GPIO của Vi điều khiển &quot;push-pull&quot; và  &quot;open-drain&quot; - Điện Tử Hello" id="112" name="Google Shape;11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9635" y="4029403"/>
            <a:ext cx="2903907" cy="1742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GPIO Output Mode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GPIO Input Mode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Analog Mode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Alternative function Mode</a:t>
            </a:r>
            <a:endParaRPr/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Content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5428859" y="822960"/>
            <a:ext cx="3619891" cy="5897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b="1" lang="en-US" sz="2400"/>
              <a:t>T1</a:t>
            </a:r>
            <a:r>
              <a:rPr lang="en-US" sz="2400"/>
              <a:t> is the PMOS </a:t>
            </a:r>
            <a:endParaRPr sz="2400"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and </a:t>
            </a:r>
            <a:r>
              <a:rPr b="1" lang="en-US" sz="2400"/>
              <a:t>T2</a:t>
            </a:r>
            <a:r>
              <a:rPr lang="en-US" sz="2400"/>
              <a:t> is the NMOS.</a:t>
            </a:r>
            <a:endParaRPr/>
          </a:p>
          <a:p>
            <a:pPr indent="-103626" lvl="0" marL="365751" rtl="0" algn="l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When we write </a:t>
            </a:r>
            <a:r>
              <a:rPr b="1" lang="en-US" sz="2400"/>
              <a:t>1</a:t>
            </a:r>
            <a:r>
              <a:rPr lang="en-US" sz="2400"/>
              <a:t> from our code, the first inverter will make it as </a:t>
            </a:r>
            <a:r>
              <a:rPr b="1" lang="en-US" sz="2400"/>
              <a:t>0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400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b="1" lang="en-US" sz="2400"/>
              <a:t>T1</a:t>
            </a:r>
            <a:r>
              <a:rPr lang="en-US" sz="2400"/>
              <a:t> will be activated and </a:t>
            </a:r>
            <a:r>
              <a:rPr b="1" lang="en-US" sz="2400"/>
              <a:t>T2</a:t>
            </a:r>
            <a:r>
              <a:rPr lang="en-US" sz="2400"/>
              <a:t> will be deactivated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b="1" lang="en-US" sz="2400"/>
              <a:t>T1</a:t>
            </a:r>
            <a:r>
              <a:rPr lang="en-US" sz="2400"/>
              <a:t> will take the </a:t>
            </a:r>
            <a:r>
              <a:rPr b="1" lang="en-US" sz="2400"/>
              <a:t>Vcc</a:t>
            </a:r>
            <a:r>
              <a:rPr lang="en-US" sz="2400"/>
              <a:t> and give it to the GPIO pin</a:t>
            </a:r>
            <a:endParaRPr sz="2400"/>
          </a:p>
        </p:txBody>
      </p:sp>
      <p:sp>
        <p:nvSpPr>
          <p:cNvPr id="124" name="Google Shape;124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Output</a:t>
            </a:r>
            <a:endParaRPr/>
          </a:p>
        </p:txBody>
      </p:sp>
      <p:pic>
        <p:nvPicPr>
          <p:cNvPr descr="Output Buffer"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737" y="1224794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PIO High" id="126" name="Google Shape;1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947" y="4685735"/>
            <a:ext cx="2034540" cy="2034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PIO Low" id="127" name="Google Shape;1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6191" y="4548010"/>
            <a:ext cx="2172265" cy="217226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44988" y="4399093"/>
            <a:ext cx="13244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Ouput HIGH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635788" y="4399093"/>
            <a:ext cx="12930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Low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5227320" y="1283517"/>
            <a:ext cx="3821430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When input GPIO = </a:t>
            </a:r>
            <a:r>
              <a:rPr b="1" lang="en-US"/>
              <a:t>1</a:t>
            </a:r>
            <a:r>
              <a:rPr lang="en-US"/>
              <a:t>, the inverter makes it as </a:t>
            </a:r>
            <a:r>
              <a:rPr b="1" lang="en-US"/>
              <a:t>0</a:t>
            </a:r>
            <a:endParaRPr/>
          </a:p>
          <a:p>
            <a:pPr indent="-115691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b="1"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PMOS</a:t>
            </a:r>
            <a:r>
              <a:rPr lang="en-US"/>
              <a:t> T1 is activated and the </a:t>
            </a:r>
            <a:r>
              <a:rPr b="1" lang="en-US"/>
              <a:t>NMOS</a:t>
            </a:r>
            <a:r>
              <a:rPr lang="en-US"/>
              <a:t> T2 is deactivated</a:t>
            </a:r>
            <a:endParaRPr/>
          </a:p>
          <a:p>
            <a:pPr indent="-115691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T1</a:t>
            </a:r>
            <a:r>
              <a:rPr lang="en-US"/>
              <a:t> will take the </a:t>
            </a:r>
            <a:r>
              <a:rPr b="1" lang="en-US"/>
              <a:t>Vcc </a:t>
            </a:r>
            <a:r>
              <a:rPr lang="en-US"/>
              <a:t>and give it to the processor 🡪 get </a:t>
            </a:r>
            <a:r>
              <a:rPr b="1" lang="en-US"/>
              <a:t>1</a:t>
            </a:r>
            <a:r>
              <a:rPr lang="en-US"/>
              <a:t> in the software program</a:t>
            </a:r>
            <a:endParaRPr/>
          </a:p>
          <a:p>
            <a:pPr indent="-115691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115691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Opposite behaviors occur when GPIO pin = </a:t>
            </a:r>
            <a:r>
              <a:rPr b="1" lang="en-US"/>
              <a:t>0</a:t>
            </a:r>
            <a:endParaRPr b="1"/>
          </a:p>
        </p:txBody>
      </p:sp>
      <p:sp>
        <p:nvSpPr>
          <p:cNvPr id="135" name="Google Shape;135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Input</a:t>
            </a:r>
            <a:endParaRPr/>
          </a:p>
        </p:txBody>
      </p:sp>
      <p:pic>
        <p:nvPicPr>
          <p:cNvPr descr="GPIO Input Buffer" id="136" name="Google Shape;136;p4"/>
          <p:cNvPicPr preferRelativeResize="0"/>
          <p:nvPr/>
        </p:nvPicPr>
        <p:blipFill rotWithShape="1">
          <a:blip r:embed="rId3">
            <a:alphaModFix/>
          </a:blip>
          <a:srcRect b="10932" l="0" r="0" t="0"/>
          <a:stretch/>
        </p:blipFill>
        <p:spPr>
          <a:xfrm>
            <a:off x="1104109" y="1224794"/>
            <a:ext cx="2466975" cy="2545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put buffer High and Low"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29" y="4051990"/>
            <a:ext cx="5005865" cy="2546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High-impedance or Floating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Pull-up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5"/>
              </a:rPr>
              <a:t>Pull-down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Input Modes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4050707" y="1283517"/>
            <a:ext cx="4998043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Whenever the microcontroller is powered ON, the GPIO pins are by default in this HIGH impedance state input mode.</a:t>
            </a:r>
            <a:endParaRPr/>
          </a:p>
          <a:p>
            <a:pPr indent="-14045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High-impedance or HI-Z State of a GPIO is the state when a pin is floating by not connecting to either </a:t>
            </a:r>
            <a:r>
              <a:rPr b="1" lang="en-US"/>
              <a:t>HIGH (VCC)</a:t>
            </a:r>
            <a:r>
              <a:rPr lang="en-US"/>
              <a:t> or </a:t>
            </a:r>
            <a:r>
              <a:rPr b="1" lang="en-US"/>
              <a:t>LOW (GND)</a:t>
            </a:r>
            <a:r>
              <a:rPr lang="en-US"/>
              <a:t> Voltage levels. 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Its state is indeterminate (cannot determine the logic level, which is </a:t>
            </a:r>
            <a:r>
              <a:rPr b="1" lang="en-US"/>
              <a:t>0</a:t>
            </a:r>
            <a:r>
              <a:rPr lang="en-US"/>
              <a:t> or </a:t>
            </a:r>
            <a:r>
              <a:rPr b="1" lang="en-US"/>
              <a:t>1</a:t>
            </a:r>
            <a:r>
              <a:rPr lang="en-US"/>
              <a:t>) unless it is driven high or low externally.</a:t>
            </a:r>
            <a:endParaRPr/>
          </a:p>
          <a:p>
            <a:pPr indent="-14045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Floating state can lead to leakage current, which may result in high power consumption because a floating pin is highly susceptible to picking up the noise and may result in leakage current.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🡪 It is recommended to keep the unused pins in either a pull-up or pull-down state to avoid leakage of current. </a:t>
            </a:r>
            <a:endParaRPr/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High-impedance</a:t>
            </a:r>
            <a:endParaRPr/>
          </a:p>
        </p:txBody>
      </p:sp>
      <p:pic>
        <p:nvPicPr>
          <p:cNvPr descr="High Impedance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75" y="1653610"/>
            <a:ext cx="3755877" cy="3755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4819828" y="1283517"/>
            <a:ext cx="4228922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 internal </a:t>
            </a:r>
            <a:r>
              <a:rPr b="1" lang="en-US"/>
              <a:t>pull-up resistor</a:t>
            </a:r>
            <a:r>
              <a:rPr lang="en-US"/>
              <a:t> is connected to the pin. So, the state will be </a:t>
            </a:r>
            <a:r>
              <a:rPr b="1" lang="en-US"/>
              <a:t>HIGH</a:t>
            </a:r>
            <a:r>
              <a:rPr lang="en-US"/>
              <a:t> unless an external pull-down resistor is used. </a:t>
            </a:r>
            <a:endParaRPr/>
          </a:p>
          <a:p>
            <a:pPr indent="-909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There will be a particular register to enable this pull-up resistor in the microcontroller (check  on the datasheet)</a:t>
            </a:r>
            <a:endParaRPr/>
          </a:p>
        </p:txBody>
      </p:sp>
      <p:sp>
        <p:nvSpPr>
          <p:cNvPr id="156" name="Google Shape;156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Pull Up</a:t>
            </a:r>
            <a:endParaRPr/>
          </a:p>
        </p:txBody>
      </p:sp>
      <p:pic>
        <p:nvPicPr>
          <p:cNvPr descr="Pullup resistor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36" y="1627972"/>
            <a:ext cx="4200259" cy="420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idx="1" type="body"/>
          </p:nvPr>
        </p:nvSpPr>
        <p:spPr>
          <a:xfrm>
            <a:off x="4307080" y="1283517"/>
            <a:ext cx="4741670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In this type, the internal pull-down resistor is connected to the pin. So, the state will be </a:t>
            </a:r>
            <a:r>
              <a:rPr b="1" lang="en-US"/>
              <a:t>Low </a:t>
            </a:r>
            <a:r>
              <a:rPr lang="en-US"/>
              <a:t>unless an external pull-up resistor is used. </a:t>
            </a:r>
            <a:endParaRPr/>
          </a:p>
          <a:p>
            <a:pPr indent="0" lvl="0" marL="109725" rtl="0" algn="just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There will be a particular register to enable this pull-down resistor in the microcontroller. </a:t>
            </a:r>
            <a:endParaRPr/>
          </a:p>
        </p:txBody>
      </p:sp>
      <p:sp>
        <p:nvSpPr>
          <p:cNvPr id="163" name="Google Shape;163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Pull Down</a:t>
            </a:r>
            <a:endParaRPr/>
          </a:p>
        </p:txBody>
      </p:sp>
      <p:pic>
        <p:nvPicPr>
          <p:cNvPr descr="Pull down resistor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74" y="1875802"/>
            <a:ext cx="4029342" cy="4029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GPIO is used to drive the electrical signal (high or low) to the pin when it is configured as a output. There are primarily two configuration options for GPIO outputs: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u="sng">
                <a:solidFill>
                  <a:schemeClr val="hlink"/>
                </a:solidFill>
                <a:hlinkClick r:id="rId3"/>
              </a:rPr>
              <a:t>Push-pull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 u="sng">
                <a:solidFill>
                  <a:schemeClr val="hlink"/>
                </a:solidFill>
                <a:hlinkClick r:id="rId4"/>
              </a:rPr>
              <a:t>Open-drain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GPIO Output Modes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This state is the default state of the GPIO output mode. The pin can “push” the signal high or “pull” it low using the </a:t>
            </a:r>
            <a:r>
              <a:rPr b="1" lang="en-US"/>
              <a:t>PMOS</a:t>
            </a:r>
            <a:r>
              <a:rPr lang="en-US"/>
              <a:t> transistor or </a:t>
            </a:r>
            <a:r>
              <a:rPr b="1" lang="en-US"/>
              <a:t>NMOS</a:t>
            </a:r>
            <a:r>
              <a:rPr lang="en-US"/>
              <a:t> transistor. 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There is no need for pull-up or pull-down resistors as the PMOS and NMOS transistors do that job. </a:t>
            </a:r>
            <a:endParaRPr/>
          </a:p>
        </p:txBody>
      </p:sp>
      <p:sp>
        <p:nvSpPr>
          <p:cNvPr id="176" name="Google Shape;176;p1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Push-pull</a:t>
            </a:r>
            <a:endParaRPr/>
          </a:p>
        </p:txBody>
      </p:sp>
      <p:pic>
        <p:nvPicPr>
          <p:cNvPr descr="GPIO High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888" y="4053344"/>
            <a:ext cx="2728085" cy="2728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PIO Low" id="178" name="Google Shape;1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7164" y="4001896"/>
            <a:ext cx="2668395" cy="2668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idx="1" type="body"/>
          </p:nvPr>
        </p:nvSpPr>
        <p:spPr>
          <a:xfrm>
            <a:off x="2939754" y="1556981"/>
            <a:ext cx="6108997" cy="6194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In GPIO output mode, the output buffer is formed using the PMOS and NMOS transistors. If you remove the PMOS transistor, then it will be an open drain output mode. </a:t>
            </a:r>
            <a:endParaRPr/>
          </a:p>
          <a:p>
            <a:pPr indent="-152838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The name comes from the fact that the MOSFET’s drain isn’t internally connected to anything. If you use BJT instead of MOSFET, then this is called an </a:t>
            </a:r>
            <a:r>
              <a:rPr b="1" lang="en-US" u="sng">
                <a:solidFill>
                  <a:schemeClr val="hlink"/>
                </a:solidFill>
                <a:hlinkClick r:id="rId3"/>
              </a:rPr>
              <a:t>Open collector</a:t>
            </a:r>
            <a:endParaRPr/>
          </a:p>
          <a:p>
            <a:pPr indent="0" lvl="0" marL="109725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When you make the NMOS to high, then it will supply a GND. The GPIO pin will be Low. </a:t>
            </a:r>
            <a:endParaRPr/>
          </a:p>
          <a:p>
            <a:pPr indent="-152838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When you turn off the NMOS, the GPIO will not be connected to either Vcc or GND. It will be in a floating state. So, the output will be either </a:t>
            </a:r>
            <a:r>
              <a:rPr b="1" lang="en-US"/>
              <a:t>Low</a:t>
            </a:r>
            <a:r>
              <a:rPr lang="en-US"/>
              <a:t> or </a:t>
            </a:r>
            <a:r>
              <a:rPr b="1" lang="en-US"/>
              <a:t>high impedance (floating)</a:t>
            </a:r>
            <a:r>
              <a:rPr lang="en-US"/>
              <a:t>. It can pull the pin towards the ground, but it cannot drive it high. </a:t>
            </a:r>
            <a:endParaRPr/>
          </a:p>
          <a:p>
            <a:pPr indent="-152838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Open drain outputs are most commonly used in communication interfaces where multiple devices are connected on the same line (e.g. I2C, One-Wire, etc.). When all of the outputs of the devices connected to the line are in the Hi-Z state, the line is driven to a default logic 1 level by a pull-up. Any device can pull the line to logic 0 using its open drain ouput and all devices can see this level.</a:t>
            </a:r>
            <a:endParaRPr/>
          </a:p>
        </p:txBody>
      </p:sp>
      <p:sp>
        <p:nvSpPr>
          <p:cNvPr id="184" name="Google Shape;184;p1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Open-Drain</a:t>
            </a:r>
            <a:endParaRPr/>
          </a:p>
        </p:txBody>
      </p:sp>
      <p:pic>
        <p:nvPicPr>
          <p:cNvPr descr="Open drain gpio" id="185" name="Google Shape;185;p11"/>
          <p:cNvPicPr preferRelativeResize="0"/>
          <p:nvPr/>
        </p:nvPicPr>
        <p:blipFill rotWithShape="1">
          <a:blip r:embed="rId4">
            <a:alphaModFix/>
          </a:blip>
          <a:srcRect b="0" l="0" r="53306" t="0"/>
          <a:stretch/>
        </p:blipFill>
        <p:spPr>
          <a:xfrm>
            <a:off x="345641" y="1639117"/>
            <a:ext cx="2320647" cy="2300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 drain gpio" id="186" name="Google Shape;186;p11"/>
          <p:cNvPicPr preferRelativeResize="0"/>
          <p:nvPr/>
        </p:nvPicPr>
        <p:blipFill rotWithShape="1">
          <a:blip r:embed="rId4">
            <a:alphaModFix/>
          </a:blip>
          <a:srcRect b="0" l="53429" r="0" t="0"/>
          <a:stretch/>
        </p:blipFill>
        <p:spPr>
          <a:xfrm>
            <a:off x="351803" y="4380542"/>
            <a:ext cx="2314485" cy="2300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1263648" y="3929192"/>
            <a:ext cx="484632" cy="45292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This mode connects the pin to an internal ADC (analog-to-digital converter) and allows you to read a value that represents a given voltage in a pin.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The value depends on the resolution of the ADC, for example, a 12-bit ADC can have values that go from 0 to 4095. 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This value is mapped to a voltage that is between 0V and (usually) the voltage the microcontroller is running (3.3V for example).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When a GPIO is configured in analog mode the input pull-up/pull-down resistors are disconnected (floating).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93" name="Google Shape;193;p1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Analog Mode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GPIO pins have the capability of providing an alternate function apart from the regular three modes. 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pins are multiplexed to provide functionalities: UART </a:t>
            </a:r>
            <a:r>
              <a:rPr lang="en-US"/>
              <a:t>Rx/Tx pins</a:t>
            </a:r>
            <a:r>
              <a:rPr lang="en-US"/>
              <a:t>, I2C pins, etc. 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There will be a separate register to set the alternate functions. </a:t>
            </a:r>
            <a:endParaRPr/>
          </a:p>
        </p:txBody>
      </p:sp>
      <p:sp>
        <p:nvSpPr>
          <p:cNvPr id="199" name="Google Shape;199;p1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Alternate Function Mode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LED BLINKY on STM32CUBE IDE</a:t>
            </a:r>
            <a:endParaRPr/>
          </a:p>
        </p:txBody>
      </p:sp>
      <p:sp>
        <p:nvSpPr>
          <p:cNvPr id="206" name="Google Shape;206;p14"/>
          <p:cNvSpPr txBox="1"/>
          <p:nvPr>
            <p:ph idx="1" type="subTitle"/>
          </p:nvPr>
        </p:nvSpPr>
        <p:spPr>
          <a:xfrm>
            <a:off x="404975" y="4836160"/>
            <a:ext cx="830842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4006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[STM32CubeIDE] https://www.youtube.com/watch?v=ZuBKAAFxjgk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[Proteus Simulation]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https://www.youtube.com/watch?v=b5K0uxedVDw</a:t>
            </a:r>
            <a:endParaRPr/>
          </a:p>
          <a:p>
            <a:pPr indent="0" lvl="0" marL="64006" rtl="0" algn="l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c31944463_3_0"/>
          <p:cNvSpPr txBox="1"/>
          <p:nvPr>
            <p:ph type="ctrTitle"/>
          </p:nvPr>
        </p:nvSpPr>
        <p:spPr>
          <a:xfrm>
            <a:off x="233797" y="97155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Software Timer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